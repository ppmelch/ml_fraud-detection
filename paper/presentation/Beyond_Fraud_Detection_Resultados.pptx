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Presentamos los resultados de nuestro proyecto de detección de anomalías en transacciones bancarias sin etiquetas de fraude. No volvemos a explicar el modelo; nos enfocamos en qué encontró: días, horas, estados y variables, y en qué fuentes respaldan cada resultado.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fin de semana se marca 17.8% de las transacciones, contra 2.3% entre semana: casi 8 veces más. Esto coincide con lo que reporta Stripe: el fraude sube en días con poca actividad normal. Pero en nuestros datos el fin de semana también es raro, y el Isolation Forest aísla fácilmente lo raro (Liu et al., 2008). Por eso decimos “inusual”, no “fraude”. La evidencia en la literatura sobre fines de semana es menos sólida que la de horarios nocturnos.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Entre medianoche y las 5 de la mañana, 19% de las transacciones se marcan como inusuales, contra 2.4% el resto del día. Coincide con estudios de fraude real: Afriyie et al. encontraron el fraude concentrado entre 22:00 y 04:00, y Accertify y Stripe reportan picos de fraude de noche. En nuestros datos casi todo pasa entre 16:00 y 18:59 (79% de las transacciones), así que la madrugada es rara. Coincide con la literatura, pero no prueba que sea fraude.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Versión estática del mapa interactivo de nuestro dashboard. A primera vista parece que Connecticut, Alaska, West Virginia, Kansas y Minnesota son los estados más “riesgosos”. En la siguiente diapositiva explicamos por qué no se debe leer así.</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Dos razones explican el mapa. Primero, el tamaño de muestra: Connecticut tiene 17% pero son 6 de 36 transacciones; los estados con 40 o menos transacciones dan 7.9% en promedio y los de 100 o más, 2.2%. Segundo, los 12 estados con tasas más altas solo tienen filas sintéticas, que agregamos para que el mapa tuviera todos los estados. Como advierten Jordon et al., los datos sintéticos no siempre se comportan como los reales. El mapa es descriptivo, no un mapa de riesgo.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cinco diferencias más grandes entre transacciones marcadas y normales son todas del monto: no solo es grande, es grande para su contexto (su hora, su estado, su comercio y el saldo de la cuenta). Coincide con Whitrow et al. y Bahnsen et al.: comparar cada transacción con el comportamiento usual del cliente es de lo más útil para detectar fraude. Después del monto, la siguiente señal es el fin de semana.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que más mueve el puntaje del modelo según SHAP. Arriba aparecen el mes, algunos estados grandes y el tipo débito. Eso no significa que marquen anomalías: ser de Texas o hacer un débito es muy común, y lo que hacen es bajar el puntaje de la mayoría. El monto contra el historial de la cuenta es la que más se relaciona con lo inusual. El mes aparece primero por el cambio en el tiempo.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umbral se fijó para marcar 2% del entrenamiento, pero en prueba marca 6.8%, más de tres veces lo esperado. Mes por mes, el cambio empieza en agosto, todavía dentro del entrenamiento, y crece hasta diciembre (7.5%). También pasa con solo transacciones reales (de 1.5% a 4.2%). Es lo que la literatura llama concept drift: el comportamiento cambia y el modelo debe recalibrarse periódicamente.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tabla resume el sustento de lo que presentamos. Las dos fuentes de la industria (Stripe y Accertify) no son artículos con revisión de pares, pero se basan en millones de transacciones reales. La evidencia más fuerte es la de los horarios nocturnos; la de los fines de semana es más débil.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Referencias citadas en la presentación, en formato APA.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Referencias citadas en la presentación, en formato APA.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Gracias. Quedamos atentos a sus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202C"/>
        </a:solidFill>
        <a:effectLst/>
      </p:bgPr>
    </p:bg>
    <p:spTree>
      <p:nvGrpSpPr>
        <p:cNvPr id="1" name=""/>
        <p:cNvGrpSpPr/>
        <p:nvPr/>
      </p:nvGrpSpPr>
      <p:grpSpPr/>
      <p:pic>
        <p:nvPicPr>
          <p:cNvPr id="2" name="Picture 1" descr="iteso_logo.png"/>
          <p:cNvPicPr>
            <a:picLocks noChangeAspect="1"/>
          </p:cNvPicPr>
          <p:nvPr/>
        </p:nvPicPr>
        <p:blipFill>
          <a:blip r:embed="rId3"/>
          <a:stretch>
            <a:fillRect/>
          </a:stretch>
        </p:blipFill>
        <p:spPr>
          <a:xfrm>
            <a:off x="812800" y="812800"/>
            <a:ext cx="762000" cy="685800"/>
          </a:xfrm>
          <a:prstGeom prst="rect">
            <a:avLst/>
          </a:prstGeom>
        </p:spPr>
      </p:pic>
      <p:sp>
        <p:nvSpPr>
          <p:cNvPr id="3" name="TextBox 2"/>
          <p:cNvSpPr txBox="1"/>
          <p:nvPr/>
        </p:nvSpPr>
        <p:spPr>
          <a:xfrm>
            <a:off x="1778000" y="863600"/>
            <a:ext cx="8890000" cy="635000"/>
          </a:xfrm>
          <a:prstGeom prst="rect">
            <a:avLst/>
          </a:prstGeom>
          <a:noFill/>
        </p:spPr>
        <p:txBody>
          <a:bodyPr wrap="square" lIns="0" rIns="0" tIns="0" bIns="0" anchor="t">
            <a:spAutoFit/>
          </a:bodyPr>
          <a:lstStyle/>
          <a:p>
            <a:pPr algn="l">
              <a:lnSpc>
                <a:spcPct val="125000"/>
              </a:lnSpc>
              <a:spcAft>
                <a:spcPts val="0"/>
              </a:spcAft>
            </a:pPr>
            <a:r>
              <a:rPr sz="1600" b="0" i="0">
                <a:solidFill>
                  <a:srgbClr val="C9CED6"/>
                </a:solidFill>
                <a:latin typeface="Arial"/>
              </a:rPr>
              <a:t>ITESO, Universidad Jesuita de Guadalajara</a:t>
            </a:r>
          </a:p>
          <a:p>
            <a:pPr algn="l">
              <a:lnSpc>
                <a:spcPct val="125000"/>
              </a:lnSpc>
              <a:spcAft>
                <a:spcPts val="0"/>
              </a:spcAft>
            </a:pPr>
            <a:r>
              <a:rPr sz="1600" b="0" i="0">
                <a:solidFill>
                  <a:srgbClr val="C9CED6"/>
                </a:solidFill>
                <a:latin typeface="Arial"/>
              </a:rPr>
              <a:t>Laboratorio de Desarrollo de Soluciones Tecnológicas</a:t>
            </a:r>
          </a:p>
        </p:txBody>
      </p:sp>
      <p:sp>
        <p:nvSpPr>
          <p:cNvPr id="4" name="TextBox 3"/>
          <p:cNvSpPr txBox="1"/>
          <p:nvPr/>
        </p:nvSpPr>
        <p:spPr>
          <a:xfrm>
            <a:off x="812800" y="2286000"/>
            <a:ext cx="10566400" cy="1841500"/>
          </a:xfrm>
          <a:prstGeom prst="rect">
            <a:avLst/>
          </a:prstGeom>
          <a:noFill/>
        </p:spPr>
        <p:txBody>
          <a:bodyPr wrap="square" lIns="0" rIns="0" tIns="0" bIns="0" anchor="t">
            <a:spAutoFit/>
          </a:bodyPr>
          <a:lstStyle/>
          <a:p>
            <a:pPr algn="l">
              <a:lnSpc>
                <a:spcPct val="108000"/>
              </a:lnSpc>
              <a:spcAft>
                <a:spcPts val="0"/>
              </a:spcAft>
            </a:pPr>
            <a:r>
              <a:rPr sz="4000" b="1" i="0">
                <a:solidFill>
                  <a:srgbClr val="F5F3EE"/>
                </a:solidFill>
                <a:latin typeface="Georgia"/>
              </a:rPr>
              <a:t>Beyond Fraud Detection: Uncovering Anomalous Financial Behavior Through Unsupervised Learning</a:t>
            </a:r>
          </a:p>
        </p:txBody>
      </p:sp>
      <p:sp>
        <p:nvSpPr>
          <p:cNvPr id="5" name="TextBox 4"/>
          <p:cNvSpPr txBox="1"/>
          <p:nvPr/>
        </p:nvSpPr>
        <p:spPr>
          <a:xfrm>
            <a:off x="812800" y="4381500"/>
            <a:ext cx="10566400" cy="317500"/>
          </a:xfrm>
          <a:prstGeom prst="rect">
            <a:avLst/>
          </a:prstGeom>
          <a:noFill/>
        </p:spPr>
        <p:txBody>
          <a:bodyPr wrap="square" lIns="0" rIns="0" tIns="0" bIns="0" anchor="t">
            <a:spAutoFit/>
          </a:bodyPr>
          <a:lstStyle/>
          <a:p>
            <a:pPr algn="l">
              <a:lnSpc>
                <a:spcPct val="125000"/>
              </a:lnSpc>
              <a:spcAft>
                <a:spcPts val="0"/>
              </a:spcAft>
            </a:pPr>
            <a:r>
              <a:rPr sz="1600" b="0" i="0">
                <a:solidFill>
                  <a:srgbClr val="E59A6E"/>
                </a:solidFill>
                <a:latin typeface="Arial"/>
              </a:rPr>
              <a:t>Resultados del modelo</a:t>
            </a:r>
          </a:p>
        </p:txBody>
      </p:sp>
      <p:sp>
        <p:nvSpPr>
          <p:cNvPr id="6" name="TextBox 5"/>
          <p:cNvSpPr txBox="1"/>
          <p:nvPr/>
        </p:nvSpPr>
        <p:spPr>
          <a:xfrm>
            <a:off x="812800" y="5334000"/>
            <a:ext cx="8255000" cy="698500"/>
          </a:xfrm>
          <a:prstGeom prst="rect">
            <a:avLst/>
          </a:prstGeom>
          <a:noFill/>
        </p:spPr>
        <p:txBody>
          <a:bodyPr wrap="square" lIns="0" rIns="0" tIns="0" bIns="0" anchor="t">
            <a:spAutoFit/>
          </a:bodyPr>
          <a:lstStyle/>
          <a:p>
            <a:pPr algn="l">
              <a:lnSpc>
                <a:spcPct val="135000"/>
              </a:lnSpc>
              <a:spcAft>
                <a:spcPts val="0"/>
              </a:spcAft>
            </a:pPr>
            <a:r>
              <a:rPr sz="1600" b="0" i="0">
                <a:solidFill>
                  <a:srgbClr val="F5F3EE"/>
                </a:solidFill>
                <a:latin typeface="Arial"/>
              </a:rPr>
              <a:t>José Armando Melchor Soto · Rolando Fortanell Canedo</a:t>
            </a:r>
          </a:p>
          <a:p>
            <a:pPr algn="l">
              <a:lnSpc>
                <a:spcPct val="135000"/>
              </a:lnSpc>
              <a:spcAft>
                <a:spcPts val="0"/>
              </a:spcAft>
            </a:pPr>
            <a:r>
              <a:rPr sz="1600" b="0" i="0">
                <a:solidFill>
                  <a:srgbClr val="F5F3EE"/>
                </a:solidFill>
                <a:latin typeface="Arial"/>
              </a:rPr>
              <a:t>Emiliano Contreras Huerta · Ismael Téllez Antillón</a:t>
            </a:r>
          </a:p>
        </p:txBody>
      </p:sp>
      <p:sp>
        <p:nvSpPr>
          <p:cNvPr id="7" name="TextBox 6"/>
          <p:cNvSpPr txBox="1"/>
          <p:nvPr/>
        </p:nvSpPr>
        <p:spPr>
          <a:xfrm>
            <a:off x="9474200" y="5715000"/>
            <a:ext cx="1905000" cy="254000"/>
          </a:xfrm>
          <a:prstGeom prst="rect">
            <a:avLst/>
          </a:prstGeom>
          <a:noFill/>
        </p:spPr>
        <p:txBody>
          <a:bodyPr wrap="square" lIns="0" rIns="0" tIns="0" bIns="0" anchor="t">
            <a:spAutoFit/>
          </a:bodyPr>
          <a:lstStyle/>
          <a:p>
            <a:pPr algn="r">
              <a:lnSpc>
                <a:spcPct val="125000"/>
              </a:lnSpc>
              <a:spcAft>
                <a:spcPts val="0"/>
              </a:spcAft>
            </a:pPr>
            <a:r>
              <a:rPr sz="1400" b="0" i="0">
                <a:solidFill>
                  <a:srgbClr val="C9CED6"/>
                </a:solidFill>
                <a:latin typeface="Arial"/>
              </a:rPr>
              <a:t>Octubre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square" lIns="0" rIns="0" tIns="0" bIns="0" anchor="t">
            <a:spAutoFit/>
          </a:bodyPr>
          <a:lstStyle/>
          <a:p>
            <a:pPr algn="l">
              <a:lnSpc>
                <a:spcPct val="125000"/>
              </a:lnSpc>
              <a:spcAft>
                <a:spcPts val="0"/>
              </a:spcAft>
            </a:pPr>
            <a:r>
              <a:rPr sz="1200" b="1" i="0">
                <a:solidFill>
                  <a:srgbClr val="B5491F"/>
                </a:solidFill>
                <a:latin typeface="Arial"/>
              </a:rPr>
              <a:t>DÍAS DE LA SEMANA</a:t>
            </a:r>
          </a:p>
        </p:txBody>
      </p:sp>
      <p:sp>
        <p:nvSpPr>
          <p:cNvPr id="3" name="TextBox 2"/>
          <p:cNvSpPr txBox="1"/>
          <p:nvPr/>
        </p:nvSpPr>
        <p:spPr>
          <a:xfrm>
            <a:off x="812800" y="1079500"/>
            <a:ext cx="10566400" cy="571500"/>
          </a:xfrm>
          <a:prstGeom prst="rect">
            <a:avLst/>
          </a:prstGeom>
          <a:noFill/>
        </p:spPr>
        <p:txBody>
          <a:bodyPr wrap="square" lIns="0" rIns="0" tIns="0" bIns="0" anchor="t">
            <a:spAutoFit/>
          </a:bodyPr>
          <a:lstStyle/>
          <a:p>
            <a:pPr algn="l">
              <a:lnSpc>
                <a:spcPct val="110000"/>
              </a:lnSpc>
              <a:spcAft>
                <a:spcPts val="0"/>
              </a:spcAft>
            </a:pPr>
            <a:r>
              <a:rPr sz="3200" b="1" i="0">
                <a:solidFill>
                  <a:srgbClr val="1B2230"/>
                </a:solidFill>
                <a:latin typeface="Georgia"/>
              </a:rPr>
              <a:t>Sábado y domingo concentran lo inusual</a:t>
            </a:r>
          </a:p>
        </p:txBody>
      </p:sp>
      <p:sp>
        <p:nvSpPr>
          <p:cNvPr id="4" name="TextBox 3"/>
          <p:cNvSpPr txBox="1"/>
          <p:nvPr/>
        </p:nvSpPr>
        <p:spPr>
          <a:xfrm>
            <a:off x="812800" y="2044700"/>
            <a:ext cx="952500" cy="254000"/>
          </a:xfrm>
          <a:prstGeom prst="rect">
            <a:avLst/>
          </a:prstGeom>
          <a:noFill/>
        </p:spPr>
        <p:txBody>
          <a:bodyPr wrap="square" lIns="0" rIns="0" tIns="0" bIns="0" anchor="t">
            <a:spAutoFit/>
          </a:bodyPr>
          <a:lstStyle/>
          <a:p>
            <a:pPr algn="l">
              <a:lnSpc>
                <a:spcPct val="125000"/>
              </a:lnSpc>
              <a:spcAft>
                <a:spcPts val="0"/>
              </a:spcAft>
            </a:pPr>
            <a:r>
              <a:rPr sz="1400" b="0" i="0">
                <a:solidFill>
                  <a:srgbClr val="1B2230"/>
                </a:solidFill>
                <a:latin typeface="Arial"/>
              </a:rPr>
              <a:t>Lunes</a:t>
            </a:r>
          </a:p>
        </p:txBody>
      </p:sp>
      <p:sp>
        <p:nvSpPr>
          <p:cNvPr id="5" name="Rounded Rectangle 4"/>
          <p:cNvSpPr/>
          <p:nvPr/>
        </p:nvSpPr>
        <p:spPr>
          <a:xfrm>
            <a:off x="1828800" y="2032000"/>
            <a:ext cx="533400" cy="254000"/>
          </a:xfrm>
          <a:prstGeom prst="roundRect">
            <a:avLst>
              <a:gd name="adj" fmla="val 10000"/>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89200" y="2044700"/>
            <a:ext cx="762000" cy="254000"/>
          </a:xfrm>
          <a:prstGeom prst="rect">
            <a:avLst/>
          </a:prstGeom>
          <a:noFill/>
        </p:spPr>
        <p:txBody>
          <a:bodyPr wrap="square" lIns="0" rIns="0" tIns="0" bIns="0" anchor="t">
            <a:spAutoFit/>
          </a:bodyPr>
          <a:lstStyle/>
          <a:p>
            <a:pPr algn="l">
              <a:lnSpc>
                <a:spcPct val="125000"/>
              </a:lnSpc>
              <a:spcAft>
                <a:spcPts val="0"/>
              </a:spcAft>
            </a:pPr>
            <a:r>
              <a:rPr sz="1400" b="0" i="0">
                <a:solidFill>
                  <a:srgbClr val="4A5262"/>
                </a:solidFill>
                <a:latin typeface="Arial"/>
              </a:rPr>
              <a:t>2.2%</a:t>
            </a:r>
          </a:p>
        </p:txBody>
      </p:sp>
      <p:sp>
        <p:nvSpPr>
          <p:cNvPr id="7" name="TextBox 6"/>
          <p:cNvSpPr txBox="1"/>
          <p:nvPr/>
        </p:nvSpPr>
        <p:spPr>
          <a:xfrm>
            <a:off x="812800" y="2438400"/>
            <a:ext cx="952500" cy="254000"/>
          </a:xfrm>
          <a:prstGeom prst="rect">
            <a:avLst/>
          </a:prstGeom>
          <a:noFill/>
        </p:spPr>
        <p:txBody>
          <a:bodyPr wrap="square" lIns="0" rIns="0" tIns="0" bIns="0" anchor="t">
            <a:spAutoFit/>
          </a:bodyPr>
          <a:lstStyle/>
          <a:p>
            <a:pPr algn="l">
              <a:lnSpc>
                <a:spcPct val="125000"/>
              </a:lnSpc>
              <a:spcAft>
                <a:spcPts val="0"/>
              </a:spcAft>
            </a:pPr>
            <a:r>
              <a:rPr sz="1400" b="0" i="0">
                <a:solidFill>
                  <a:srgbClr val="1B2230"/>
                </a:solidFill>
                <a:latin typeface="Arial"/>
              </a:rPr>
              <a:t>Martes</a:t>
            </a:r>
          </a:p>
        </p:txBody>
      </p:sp>
      <p:sp>
        <p:nvSpPr>
          <p:cNvPr id="8" name="Rounded Rectangle 7"/>
          <p:cNvSpPr/>
          <p:nvPr/>
        </p:nvSpPr>
        <p:spPr>
          <a:xfrm>
            <a:off x="1828800" y="2425700"/>
            <a:ext cx="361950" cy="254000"/>
          </a:xfrm>
          <a:prstGeom prst="roundRect">
            <a:avLst>
              <a:gd name="adj" fmla="val 10000"/>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17750" y="2438400"/>
            <a:ext cx="762000" cy="254000"/>
          </a:xfrm>
          <a:prstGeom prst="rect">
            <a:avLst/>
          </a:prstGeom>
          <a:noFill/>
        </p:spPr>
        <p:txBody>
          <a:bodyPr wrap="square" lIns="0" rIns="0" tIns="0" bIns="0" anchor="t">
            <a:spAutoFit/>
          </a:bodyPr>
          <a:lstStyle/>
          <a:p>
            <a:pPr algn="l">
              <a:lnSpc>
                <a:spcPct val="125000"/>
              </a:lnSpc>
              <a:spcAft>
                <a:spcPts val="0"/>
              </a:spcAft>
            </a:pPr>
            <a:r>
              <a:rPr sz="1400" b="0" i="0">
                <a:solidFill>
                  <a:srgbClr val="4A5262"/>
                </a:solidFill>
                <a:latin typeface="Arial"/>
              </a:rPr>
              <a:t>1.5%</a:t>
            </a:r>
          </a:p>
        </p:txBody>
      </p:sp>
      <p:sp>
        <p:nvSpPr>
          <p:cNvPr id="10" name="TextBox 9"/>
          <p:cNvSpPr txBox="1"/>
          <p:nvPr/>
        </p:nvSpPr>
        <p:spPr>
          <a:xfrm>
            <a:off x="812800" y="2832100"/>
            <a:ext cx="952500" cy="254000"/>
          </a:xfrm>
          <a:prstGeom prst="rect">
            <a:avLst/>
          </a:prstGeom>
          <a:noFill/>
        </p:spPr>
        <p:txBody>
          <a:bodyPr wrap="square" lIns="0" rIns="0" tIns="0" bIns="0" anchor="t">
            <a:spAutoFit/>
          </a:bodyPr>
          <a:lstStyle/>
          <a:p>
            <a:pPr algn="l">
              <a:lnSpc>
                <a:spcPct val="125000"/>
              </a:lnSpc>
              <a:spcAft>
                <a:spcPts val="0"/>
              </a:spcAft>
            </a:pPr>
            <a:r>
              <a:rPr sz="1400" b="0" i="0">
                <a:solidFill>
                  <a:srgbClr val="1B2230"/>
                </a:solidFill>
                <a:latin typeface="Arial"/>
              </a:rPr>
              <a:t>Miércoles</a:t>
            </a:r>
          </a:p>
        </p:txBody>
      </p:sp>
      <p:sp>
        <p:nvSpPr>
          <p:cNvPr id="11" name="Rounded Rectangle 10"/>
          <p:cNvSpPr/>
          <p:nvPr/>
        </p:nvSpPr>
        <p:spPr>
          <a:xfrm>
            <a:off x="1828800" y="2819400"/>
            <a:ext cx="730250" cy="254000"/>
          </a:xfrm>
          <a:prstGeom prst="roundRect">
            <a:avLst>
              <a:gd name="adj" fmla="val 10000"/>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86050" y="2832100"/>
            <a:ext cx="762000" cy="254000"/>
          </a:xfrm>
          <a:prstGeom prst="rect">
            <a:avLst/>
          </a:prstGeom>
          <a:noFill/>
        </p:spPr>
        <p:txBody>
          <a:bodyPr wrap="square" lIns="0" rIns="0" tIns="0" bIns="0" anchor="t">
            <a:spAutoFit/>
          </a:bodyPr>
          <a:lstStyle/>
          <a:p>
            <a:pPr algn="l">
              <a:lnSpc>
                <a:spcPct val="125000"/>
              </a:lnSpc>
              <a:spcAft>
                <a:spcPts val="0"/>
              </a:spcAft>
            </a:pPr>
            <a:r>
              <a:rPr sz="1400" b="0" i="0">
                <a:solidFill>
                  <a:srgbClr val="4A5262"/>
                </a:solidFill>
                <a:latin typeface="Arial"/>
              </a:rPr>
              <a:t>3.0%</a:t>
            </a:r>
          </a:p>
        </p:txBody>
      </p:sp>
      <p:sp>
        <p:nvSpPr>
          <p:cNvPr id="13" name="TextBox 12"/>
          <p:cNvSpPr txBox="1"/>
          <p:nvPr/>
        </p:nvSpPr>
        <p:spPr>
          <a:xfrm>
            <a:off x="812800" y="3225800"/>
            <a:ext cx="952500" cy="254000"/>
          </a:xfrm>
          <a:prstGeom prst="rect">
            <a:avLst/>
          </a:prstGeom>
          <a:noFill/>
        </p:spPr>
        <p:txBody>
          <a:bodyPr wrap="square" lIns="0" rIns="0" tIns="0" bIns="0" anchor="t">
            <a:spAutoFit/>
          </a:bodyPr>
          <a:lstStyle/>
          <a:p>
            <a:pPr algn="l">
              <a:lnSpc>
                <a:spcPct val="125000"/>
              </a:lnSpc>
              <a:spcAft>
                <a:spcPts val="0"/>
              </a:spcAft>
            </a:pPr>
            <a:r>
              <a:rPr sz="1400" b="0" i="0">
                <a:solidFill>
                  <a:srgbClr val="1B2230"/>
                </a:solidFill>
                <a:latin typeface="Arial"/>
              </a:rPr>
              <a:t>Jueves</a:t>
            </a:r>
          </a:p>
        </p:txBody>
      </p:sp>
      <p:sp>
        <p:nvSpPr>
          <p:cNvPr id="14" name="Rounded Rectangle 13"/>
          <p:cNvSpPr/>
          <p:nvPr/>
        </p:nvSpPr>
        <p:spPr>
          <a:xfrm>
            <a:off x="1828800" y="3213100"/>
            <a:ext cx="412750" cy="254000"/>
          </a:xfrm>
          <a:prstGeom prst="roundRect">
            <a:avLst>
              <a:gd name="adj" fmla="val 10000"/>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68550" y="3225800"/>
            <a:ext cx="762000" cy="254000"/>
          </a:xfrm>
          <a:prstGeom prst="rect">
            <a:avLst/>
          </a:prstGeom>
          <a:noFill/>
        </p:spPr>
        <p:txBody>
          <a:bodyPr wrap="square" lIns="0" rIns="0" tIns="0" bIns="0" anchor="t">
            <a:spAutoFit/>
          </a:bodyPr>
          <a:lstStyle/>
          <a:p>
            <a:pPr algn="l">
              <a:lnSpc>
                <a:spcPct val="125000"/>
              </a:lnSpc>
              <a:spcAft>
                <a:spcPts val="0"/>
              </a:spcAft>
            </a:pPr>
            <a:r>
              <a:rPr sz="1400" b="0" i="0">
                <a:solidFill>
                  <a:srgbClr val="4A5262"/>
                </a:solidFill>
                <a:latin typeface="Arial"/>
              </a:rPr>
              <a:t>1.7%</a:t>
            </a:r>
          </a:p>
        </p:txBody>
      </p:sp>
      <p:sp>
        <p:nvSpPr>
          <p:cNvPr id="16" name="TextBox 15"/>
          <p:cNvSpPr txBox="1"/>
          <p:nvPr/>
        </p:nvSpPr>
        <p:spPr>
          <a:xfrm>
            <a:off x="812800" y="3619500"/>
            <a:ext cx="952500" cy="254000"/>
          </a:xfrm>
          <a:prstGeom prst="rect">
            <a:avLst/>
          </a:prstGeom>
          <a:noFill/>
        </p:spPr>
        <p:txBody>
          <a:bodyPr wrap="square" lIns="0" rIns="0" tIns="0" bIns="0" anchor="t">
            <a:spAutoFit/>
          </a:bodyPr>
          <a:lstStyle/>
          <a:p>
            <a:pPr algn="l">
              <a:lnSpc>
                <a:spcPct val="125000"/>
              </a:lnSpc>
              <a:spcAft>
                <a:spcPts val="0"/>
              </a:spcAft>
            </a:pPr>
            <a:r>
              <a:rPr sz="1400" b="0" i="0">
                <a:solidFill>
                  <a:srgbClr val="1B2230"/>
                </a:solidFill>
                <a:latin typeface="Arial"/>
              </a:rPr>
              <a:t>Viernes</a:t>
            </a:r>
          </a:p>
        </p:txBody>
      </p:sp>
      <p:sp>
        <p:nvSpPr>
          <p:cNvPr id="17" name="Rounded Rectangle 16"/>
          <p:cNvSpPr/>
          <p:nvPr/>
        </p:nvSpPr>
        <p:spPr>
          <a:xfrm>
            <a:off x="1828800" y="3606800"/>
            <a:ext cx="781050" cy="254000"/>
          </a:xfrm>
          <a:prstGeom prst="roundRect">
            <a:avLst>
              <a:gd name="adj" fmla="val 10000"/>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36850" y="3619500"/>
            <a:ext cx="762000" cy="254000"/>
          </a:xfrm>
          <a:prstGeom prst="rect">
            <a:avLst/>
          </a:prstGeom>
          <a:noFill/>
        </p:spPr>
        <p:txBody>
          <a:bodyPr wrap="square" lIns="0" rIns="0" tIns="0" bIns="0" anchor="t">
            <a:spAutoFit/>
          </a:bodyPr>
          <a:lstStyle/>
          <a:p>
            <a:pPr algn="l">
              <a:lnSpc>
                <a:spcPct val="125000"/>
              </a:lnSpc>
              <a:spcAft>
                <a:spcPts val="0"/>
              </a:spcAft>
            </a:pPr>
            <a:r>
              <a:rPr sz="1400" b="0" i="0">
                <a:solidFill>
                  <a:srgbClr val="4A5262"/>
                </a:solidFill>
                <a:latin typeface="Arial"/>
              </a:rPr>
              <a:t>3.2%</a:t>
            </a:r>
          </a:p>
        </p:txBody>
      </p:sp>
      <p:sp>
        <p:nvSpPr>
          <p:cNvPr id="19" name="TextBox 18"/>
          <p:cNvSpPr txBox="1"/>
          <p:nvPr/>
        </p:nvSpPr>
        <p:spPr>
          <a:xfrm>
            <a:off x="812800" y="4013200"/>
            <a:ext cx="952500" cy="254000"/>
          </a:xfrm>
          <a:prstGeom prst="rect">
            <a:avLst/>
          </a:prstGeom>
          <a:noFill/>
        </p:spPr>
        <p:txBody>
          <a:bodyPr wrap="square" lIns="0" rIns="0" tIns="0" bIns="0" anchor="t">
            <a:spAutoFit/>
          </a:bodyPr>
          <a:lstStyle/>
          <a:p>
            <a:pPr algn="l">
              <a:lnSpc>
                <a:spcPct val="125000"/>
              </a:lnSpc>
              <a:spcAft>
                <a:spcPts val="0"/>
              </a:spcAft>
            </a:pPr>
            <a:r>
              <a:rPr sz="1400" b="1" i="0">
                <a:solidFill>
                  <a:srgbClr val="1B2230"/>
                </a:solidFill>
                <a:latin typeface="Arial"/>
              </a:rPr>
              <a:t>Sábado</a:t>
            </a:r>
          </a:p>
        </p:txBody>
      </p:sp>
      <p:sp>
        <p:nvSpPr>
          <p:cNvPr id="20" name="Rounded Rectangle 19"/>
          <p:cNvSpPr/>
          <p:nvPr/>
        </p:nvSpPr>
        <p:spPr>
          <a:xfrm>
            <a:off x="1828800" y="4000500"/>
            <a:ext cx="4108450" cy="254000"/>
          </a:xfrm>
          <a:prstGeom prst="roundRect">
            <a:avLst>
              <a:gd name="adj" fmla="val 10000"/>
            </a:avLst>
          </a:prstGeom>
          <a:solidFill>
            <a:srgbClr val="B54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64250" y="4013200"/>
            <a:ext cx="762000" cy="254000"/>
          </a:xfrm>
          <a:prstGeom prst="rect">
            <a:avLst/>
          </a:prstGeom>
          <a:noFill/>
        </p:spPr>
        <p:txBody>
          <a:bodyPr wrap="square" lIns="0" rIns="0" tIns="0" bIns="0" anchor="t">
            <a:spAutoFit/>
          </a:bodyPr>
          <a:lstStyle/>
          <a:p>
            <a:pPr algn="l">
              <a:lnSpc>
                <a:spcPct val="125000"/>
              </a:lnSpc>
              <a:spcAft>
                <a:spcPts val="0"/>
              </a:spcAft>
            </a:pPr>
            <a:r>
              <a:rPr sz="1400" b="1" i="0">
                <a:solidFill>
                  <a:srgbClr val="B5491F"/>
                </a:solidFill>
                <a:latin typeface="Arial"/>
              </a:rPr>
              <a:t>16.9%</a:t>
            </a:r>
          </a:p>
        </p:txBody>
      </p:sp>
      <p:sp>
        <p:nvSpPr>
          <p:cNvPr id="22" name="TextBox 21"/>
          <p:cNvSpPr txBox="1"/>
          <p:nvPr/>
        </p:nvSpPr>
        <p:spPr>
          <a:xfrm>
            <a:off x="812800" y="4406900"/>
            <a:ext cx="952500" cy="254000"/>
          </a:xfrm>
          <a:prstGeom prst="rect">
            <a:avLst/>
          </a:prstGeom>
          <a:noFill/>
        </p:spPr>
        <p:txBody>
          <a:bodyPr wrap="square" lIns="0" rIns="0" tIns="0" bIns="0" anchor="t">
            <a:spAutoFit/>
          </a:bodyPr>
          <a:lstStyle/>
          <a:p>
            <a:pPr algn="l">
              <a:lnSpc>
                <a:spcPct val="125000"/>
              </a:lnSpc>
              <a:spcAft>
                <a:spcPts val="0"/>
              </a:spcAft>
            </a:pPr>
            <a:r>
              <a:rPr sz="1400" b="1" i="0">
                <a:solidFill>
                  <a:srgbClr val="1B2230"/>
                </a:solidFill>
                <a:latin typeface="Arial"/>
              </a:rPr>
              <a:t>Domingo</a:t>
            </a:r>
          </a:p>
        </p:txBody>
      </p:sp>
      <p:sp>
        <p:nvSpPr>
          <p:cNvPr id="23" name="Rounded Rectangle 22"/>
          <p:cNvSpPr/>
          <p:nvPr/>
        </p:nvSpPr>
        <p:spPr>
          <a:xfrm>
            <a:off x="1828800" y="4394200"/>
            <a:ext cx="4572000" cy="254000"/>
          </a:xfrm>
          <a:prstGeom prst="roundRect">
            <a:avLst>
              <a:gd name="adj" fmla="val 10000"/>
            </a:avLst>
          </a:prstGeom>
          <a:solidFill>
            <a:srgbClr val="B54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27800" y="4406900"/>
            <a:ext cx="762000" cy="254000"/>
          </a:xfrm>
          <a:prstGeom prst="rect">
            <a:avLst/>
          </a:prstGeom>
          <a:noFill/>
        </p:spPr>
        <p:txBody>
          <a:bodyPr wrap="square" lIns="0" rIns="0" tIns="0" bIns="0" anchor="t">
            <a:spAutoFit/>
          </a:bodyPr>
          <a:lstStyle/>
          <a:p>
            <a:pPr algn="l">
              <a:lnSpc>
                <a:spcPct val="125000"/>
              </a:lnSpc>
              <a:spcAft>
                <a:spcPts val="0"/>
              </a:spcAft>
            </a:pPr>
            <a:r>
              <a:rPr sz="1400" b="1" i="0">
                <a:solidFill>
                  <a:srgbClr val="B5491F"/>
                </a:solidFill>
                <a:latin typeface="Arial"/>
              </a:rPr>
              <a:t>18.8%</a:t>
            </a:r>
          </a:p>
        </p:txBody>
      </p:sp>
      <p:sp>
        <p:nvSpPr>
          <p:cNvPr id="25" name="TextBox 24"/>
          <p:cNvSpPr txBox="1"/>
          <p:nvPr/>
        </p:nvSpPr>
        <p:spPr>
          <a:xfrm>
            <a:off x="812800" y="4889500"/>
            <a:ext cx="6350000" cy="228600"/>
          </a:xfrm>
          <a:prstGeom prst="rect">
            <a:avLst/>
          </a:prstGeom>
          <a:noFill/>
        </p:spPr>
        <p:txBody>
          <a:bodyPr wrap="square" lIns="0" rIns="0" tIns="0" bIns="0" anchor="t">
            <a:spAutoFit/>
          </a:bodyPr>
          <a:lstStyle/>
          <a:p>
            <a:pPr algn="l">
              <a:lnSpc>
                <a:spcPct val="125000"/>
              </a:lnSpc>
              <a:spcAft>
                <a:spcPts val="0"/>
              </a:spcAft>
            </a:pPr>
            <a:r>
              <a:rPr sz="1200" b="0" i="0">
                <a:solidFill>
                  <a:srgbClr val="6B7280"/>
                </a:solidFill>
                <a:latin typeface="Arial"/>
              </a:rPr>
              <a:t>% de transacciones marcadas como inusuales, por día</a:t>
            </a:r>
          </a:p>
        </p:txBody>
      </p:sp>
      <p:sp>
        <p:nvSpPr>
          <p:cNvPr id="26" name="Rounded Rectangle 25"/>
          <p:cNvSpPr/>
          <p:nvPr/>
        </p:nvSpPr>
        <p:spPr>
          <a:xfrm>
            <a:off x="7823200" y="2032000"/>
            <a:ext cx="3556000" cy="2667000"/>
          </a:xfrm>
          <a:prstGeom prst="roundRect">
            <a:avLst>
              <a:gd name="adj" fmla="val 3809"/>
            </a:avLst>
          </a:prstGeom>
          <a:solidFill>
            <a:srgbClr val="18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77200" y="2286000"/>
            <a:ext cx="3048000" cy="2159000"/>
          </a:xfrm>
          <a:prstGeom prst="rect">
            <a:avLst/>
          </a:prstGeom>
          <a:noFill/>
        </p:spPr>
        <p:txBody>
          <a:bodyPr wrap="square" lIns="0" rIns="0" tIns="0" bIns="0" anchor="t">
            <a:spAutoFit/>
          </a:bodyPr>
          <a:lstStyle/>
          <a:p>
            <a:pPr algn="l">
              <a:lnSpc>
                <a:spcPct val="135000"/>
              </a:lnSpc>
              <a:spcAft>
                <a:spcPts val="1000"/>
              </a:spcAft>
            </a:pPr>
            <a:r>
              <a:rPr sz="1300" b="0" i="0">
                <a:solidFill>
                  <a:srgbClr val="D7DBE1"/>
                </a:solidFill>
                <a:latin typeface="Arial"/>
              </a:rPr>
              <a:t>De acuerdo con el reporte de Stripe (Woodward, 2017), el fraude aumenta en los días </a:t>
            </a:r>
            <a:r>
              <a:rPr sz="1300" b="1" i="0">
                <a:solidFill>
                  <a:srgbClr val="D7DBE1"/>
                </a:solidFill>
                <a:latin typeface="Arial"/>
              </a:rPr>
              <a:t>tranquilos</a:t>
            </a:r>
            <a:r>
              <a:rPr sz="1300" b="0" i="0">
                <a:solidFill>
                  <a:srgbClr val="D7DBE1"/>
                </a:solidFill>
                <a:latin typeface="Arial"/>
              </a:rPr>
              <a:t>, con poca actividad legítima, y no en los de más compras.</a:t>
            </a:r>
          </a:p>
          <a:p>
            <a:pPr algn="l">
              <a:lnSpc>
                <a:spcPct val="135000"/>
              </a:lnSpc>
              <a:spcAft>
                <a:spcPts val="1000"/>
              </a:spcAft>
            </a:pPr>
            <a:r>
              <a:rPr sz="1300" b="0" i="0">
                <a:solidFill>
                  <a:srgbClr val="D7DBE1"/>
                </a:solidFill>
                <a:latin typeface="Arial"/>
              </a:rPr>
              <a:t>En nuestros datos el fin de semana es justo el periodo más tranquilo: solo 214 de 3,293 transacciones (6.5%).</a:t>
            </a:r>
          </a:p>
        </p:txBody>
      </p:sp>
      <p:sp>
        <p:nvSpPr>
          <p:cNvPr id="28" name="TextBox 27"/>
          <p:cNvSpPr txBox="1"/>
          <p:nvPr/>
        </p:nvSpPr>
        <p:spPr>
          <a:xfrm>
            <a:off x="812800" y="6223000"/>
            <a:ext cx="10566400" cy="228600"/>
          </a:xfrm>
          <a:prstGeom prst="rect">
            <a:avLst/>
          </a:prstGeom>
          <a:noFill/>
        </p:spPr>
        <p:txBody>
          <a:bodyPr wrap="square" lIns="0" rIns="0" tIns="0" bIns="0" anchor="t">
            <a:spAutoFit/>
          </a:bodyPr>
          <a:lstStyle/>
          <a:p>
            <a:pPr algn="l">
              <a:lnSpc>
                <a:spcPct val="125000"/>
              </a:lnSpc>
              <a:spcAft>
                <a:spcPts val="0"/>
              </a:spcAft>
            </a:pPr>
            <a:r>
              <a:rPr sz="1200" b="0" i="0">
                <a:solidFill>
                  <a:srgbClr val="6B7280"/>
                </a:solidFill>
                <a:latin typeface="Arial"/>
              </a:rPr>
              <a:t>Fuentes: resultados del modelo (datos completos); Woodward, 2017 (Digital Transactions, reporte de Stripe); Liu et al., 2008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square" lIns="0" rIns="0" tIns="0" bIns="0" anchor="t">
            <a:spAutoFit/>
          </a:bodyPr>
          <a:lstStyle/>
          <a:p>
            <a:pPr algn="l">
              <a:lnSpc>
                <a:spcPct val="125000"/>
              </a:lnSpc>
              <a:spcAft>
                <a:spcPts val="0"/>
              </a:spcAft>
            </a:pPr>
            <a:r>
              <a:rPr sz="1200" b="1" i="0">
                <a:solidFill>
                  <a:srgbClr val="B5491F"/>
                </a:solidFill>
                <a:latin typeface="Arial"/>
              </a:rPr>
              <a:t>HORAS DEL DÍA</a:t>
            </a:r>
          </a:p>
        </p:txBody>
      </p:sp>
      <p:sp>
        <p:nvSpPr>
          <p:cNvPr id="3" name="TextBox 2"/>
          <p:cNvSpPr txBox="1"/>
          <p:nvPr/>
        </p:nvSpPr>
        <p:spPr>
          <a:xfrm>
            <a:off x="812800" y="1079500"/>
            <a:ext cx="10566400" cy="571500"/>
          </a:xfrm>
          <a:prstGeom prst="rect">
            <a:avLst/>
          </a:prstGeom>
          <a:noFill/>
        </p:spPr>
        <p:txBody>
          <a:bodyPr wrap="square" lIns="0" rIns="0" tIns="0" bIns="0" anchor="t">
            <a:spAutoFit/>
          </a:bodyPr>
          <a:lstStyle/>
          <a:p>
            <a:pPr algn="l">
              <a:lnSpc>
                <a:spcPct val="110000"/>
              </a:lnSpc>
              <a:spcAft>
                <a:spcPts val="0"/>
              </a:spcAft>
            </a:pPr>
            <a:r>
              <a:rPr sz="3200" b="1" i="0">
                <a:solidFill>
                  <a:srgbClr val="1B2230"/>
                </a:solidFill>
                <a:latin typeface="Georgia"/>
              </a:rPr>
              <a:t>La madrugada se marca 8 veces más</a:t>
            </a:r>
          </a:p>
        </p:txBody>
      </p:sp>
      <p:sp>
        <p:nvSpPr>
          <p:cNvPr id="4" name="Rounded Rectangle 3"/>
          <p:cNvSpPr/>
          <p:nvPr/>
        </p:nvSpPr>
        <p:spPr>
          <a:xfrm>
            <a:off x="812800" y="3962400"/>
            <a:ext cx="226483" cy="673100"/>
          </a:xfrm>
          <a:prstGeom prst="roundRect">
            <a:avLst>
              <a:gd name="adj" fmla="val 8411"/>
            </a:avLst>
          </a:prstGeom>
          <a:solidFill>
            <a:srgbClr val="B54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0083" y="2044700"/>
            <a:ext cx="226483" cy="2590800"/>
          </a:xfrm>
          <a:prstGeom prst="roundRect">
            <a:avLst>
              <a:gd name="adj" fmla="val 8411"/>
            </a:avLst>
          </a:prstGeom>
          <a:solidFill>
            <a:srgbClr val="B54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367366" y="3130550"/>
            <a:ext cx="226483" cy="1504950"/>
          </a:xfrm>
          <a:prstGeom prst="roundRect">
            <a:avLst>
              <a:gd name="adj" fmla="val 8411"/>
            </a:avLst>
          </a:prstGeom>
          <a:solidFill>
            <a:srgbClr val="B54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644650" y="2952750"/>
            <a:ext cx="226483" cy="1682750"/>
          </a:xfrm>
          <a:prstGeom prst="roundRect">
            <a:avLst>
              <a:gd name="adj" fmla="val 8411"/>
            </a:avLst>
          </a:prstGeom>
          <a:solidFill>
            <a:srgbClr val="B54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921933" y="1968500"/>
            <a:ext cx="226483" cy="2667000"/>
          </a:xfrm>
          <a:prstGeom prst="roundRect">
            <a:avLst>
              <a:gd name="adj" fmla="val 8411"/>
            </a:avLst>
          </a:prstGeom>
          <a:solidFill>
            <a:srgbClr val="B54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199216" y="3841750"/>
            <a:ext cx="226483" cy="793750"/>
          </a:xfrm>
          <a:prstGeom prst="roundRect">
            <a:avLst>
              <a:gd name="adj" fmla="val 8411"/>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476500" y="4368800"/>
            <a:ext cx="226483" cy="266700"/>
          </a:xfrm>
          <a:prstGeom prst="roundRect">
            <a:avLst>
              <a:gd name="adj" fmla="val 8411"/>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753783" y="4076700"/>
            <a:ext cx="226483" cy="558800"/>
          </a:xfrm>
          <a:prstGeom prst="roundRect">
            <a:avLst>
              <a:gd name="adj" fmla="val 8411"/>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031066" y="4286250"/>
            <a:ext cx="226483" cy="349250"/>
          </a:xfrm>
          <a:prstGeom prst="roundRect">
            <a:avLst>
              <a:gd name="adj" fmla="val 8411"/>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08350" y="3657600"/>
            <a:ext cx="226483" cy="977900"/>
          </a:xfrm>
          <a:prstGeom prst="roundRect">
            <a:avLst>
              <a:gd name="adj" fmla="val 8411"/>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585633" y="4305300"/>
            <a:ext cx="226483" cy="330200"/>
          </a:xfrm>
          <a:prstGeom prst="roundRect">
            <a:avLst>
              <a:gd name="adj" fmla="val 8411"/>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862916" y="4000500"/>
            <a:ext cx="226483" cy="635000"/>
          </a:xfrm>
          <a:prstGeom prst="roundRect">
            <a:avLst>
              <a:gd name="adj" fmla="val 8411"/>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40200" y="4394200"/>
            <a:ext cx="226483" cy="241300"/>
          </a:xfrm>
          <a:prstGeom prst="roundRect">
            <a:avLst>
              <a:gd name="adj" fmla="val 8411"/>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417483" y="4622800"/>
            <a:ext cx="226483" cy="12700"/>
          </a:xfrm>
          <a:prstGeom prst="roundRect">
            <a:avLst>
              <a:gd name="adj" fmla="val 50000"/>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694766" y="4349750"/>
            <a:ext cx="226483" cy="285750"/>
          </a:xfrm>
          <a:prstGeom prst="roundRect">
            <a:avLst>
              <a:gd name="adj" fmla="val 8411"/>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72050" y="4178300"/>
            <a:ext cx="226483" cy="457200"/>
          </a:xfrm>
          <a:prstGeom prst="roundRect">
            <a:avLst>
              <a:gd name="adj" fmla="val 8411"/>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249333" y="4432300"/>
            <a:ext cx="226483" cy="203200"/>
          </a:xfrm>
          <a:prstGeom prst="roundRect">
            <a:avLst>
              <a:gd name="adj" fmla="val 9375"/>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526616" y="4451350"/>
            <a:ext cx="226483" cy="184150"/>
          </a:xfrm>
          <a:prstGeom prst="roundRect">
            <a:avLst>
              <a:gd name="adj" fmla="val 10344"/>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803900" y="4394200"/>
            <a:ext cx="226483" cy="241300"/>
          </a:xfrm>
          <a:prstGeom prst="roundRect">
            <a:avLst>
              <a:gd name="adj" fmla="val 8411"/>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081183" y="3981450"/>
            <a:ext cx="226483" cy="654050"/>
          </a:xfrm>
          <a:prstGeom prst="roundRect">
            <a:avLst>
              <a:gd name="adj" fmla="val 8411"/>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358466" y="3911600"/>
            <a:ext cx="226483" cy="723900"/>
          </a:xfrm>
          <a:prstGeom prst="roundRect">
            <a:avLst>
              <a:gd name="adj" fmla="val 8411"/>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635750" y="4368800"/>
            <a:ext cx="226483" cy="266700"/>
          </a:xfrm>
          <a:prstGeom prst="roundRect">
            <a:avLst>
              <a:gd name="adj" fmla="val 8411"/>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913033" y="3911600"/>
            <a:ext cx="226483" cy="723900"/>
          </a:xfrm>
          <a:prstGeom prst="roundRect">
            <a:avLst>
              <a:gd name="adj" fmla="val 8411"/>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190316" y="4349750"/>
            <a:ext cx="226483" cy="285750"/>
          </a:xfrm>
          <a:prstGeom prst="roundRect">
            <a:avLst>
              <a:gd name="adj" fmla="val 8411"/>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300" y="4711700"/>
            <a:ext cx="508000" cy="215900"/>
          </a:xfrm>
          <a:prstGeom prst="rect">
            <a:avLst/>
          </a:prstGeom>
          <a:noFill/>
        </p:spPr>
        <p:txBody>
          <a:bodyPr wrap="square" lIns="0" rIns="0" tIns="0" bIns="0" anchor="t">
            <a:spAutoFit/>
          </a:bodyPr>
          <a:lstStyle/>
          <a:p>
            <a:pPr algn="l">
              <a:lnSpc>
                <a:spcPct val="125000"/>
              </a:lnSpc>
              <a:spcAft>
                <a:spcPts val="0"/>
              </a:spcAft>
            </a:pPr>
            <a:r>
              <a:rPr sz="1200" b="0" i="0">
                <a:solidFill>
                  <a:srgbClr val="4A5262"/>
                </a:solidFill>
                <a:latin typeface="Arial"/>
              </a:rPr>
              <a:t>00 h</a:t>
            </a:r>
          </a:p>
        </p:txBody>
      </p:sp>
      <p:sp>
        <p:nvSpPr>
          <p:cNvPr id="29" name="TextBox 28"/>
          <p:cNvSpPr txBox="1"/>
          <p:nvPr/>
        </p:nvSpPr>
        <p:spPr>
          <a:xfrm>
            <a:off x="2413000" y="4711700"/>
            <a:ext cx="508000" cy="215900"/>
          </a:xfrm>
          <a:prstGeom prst="rect">
            <a:avLst/>
          </a:prstGeom>
          <a:noFill/>
        </p:spPr>
        <p:txBody>
          <a:bodyPr wrap="square" lIns="0" rIns="0" tIns="0" bIns="0" anchor="t">
            <a:spAutoFit/>
          </a:bodyPr>
          <a:lstStyle/>
          <a:p>
            <a:pPr algn="l">
              <a:lnSpc>
                <a:spcPct val="125000"/>
              </a:lnSpc>
              <a:spcAft>
                <a:spcPts val="0"/>
              </a:spcAft>
            </a:pPr>
            <a:r>
              <a:rPr sz="1200" b="0" i="0">
                <a:solidFill>
                  <a:srgbClr val="4A5262"/>
                </a:solidFill>
                <a:latin typeface="Arial"/>
              </a:rPr>
              <a:t>06 h</a:t>
            </a:r>
          </a:p>
        </p:txBody>
      </p:sp>
      <p:sp>
        <p:nvSpPr>
          <p:cNvPr id="30" name="TextBox 29"/>
          <p:cNvSpPr txBox="1"/>
          <p:nvPr/>
        </p:nvSpPr>
        <p:spPr>
          <a:xfrm>
            <a:off x="4076700" y="4711700"/>
            <a:ext cx="508000" cy="215900"/>
          </a:xfrm>
          <a:prstGeom prst="rect">
            <a:avLst/>
          </a:prstGeom>
          <a:noFill/>
        </p:spPr>
        <p:txBody>
          <a:bodyPr wrap="square" lIns="0" rIns="0" tIns="0" bIns="0" anchor="t">
            <a:spAutoFit/>
          </a:bodyPr>
          <a:lstStyle/>
          <a:p>
            <a:pPr algn="l">
              <a:lnSpc>
                <a:spcPct val="125000"/>
              </a:lnSpc>
              <a:spcAft>
                <a:spcPts val="0"/>
              </a:spcAft>
            </a:pPr>
            <a:r>
              <a:rPr sz="1200" b="0" i="0">
                <a:solidFill>
                  <a:srgbClr val="4A5262"/>
                </a:solidFill>
                <a:latin typeface="Arial"/>
              </a:rPr>
              <a:t>12 h</a:t>
            </a:r>
          </a:p>
        </p:txBody>
      </p:sp>
      <p:sp>
        <p:nvSpPr>
          <p:cNvPr id="31" name="TextBox 30"/>
          <p:cNvSpPr txBox="1"/>
          <p:nvPr/>
        </p:nvSpPr>
        <p:spPr>
          <a:xfrm>
            <a:off x="5740400" y="4711700"/>
            <a:ext cx="508000" cy="215900"/>
          </a:xfrm>
          <a:prstGeom prst="rect">
            <a:avLst/>
          </a:prstGeom>
          <a:noFill/>
        </p:spPr>
        <p:txBody>
          <a:bodyPr wrap="square" lIns="0" rIns="0" tIns="0" bIns="0" anchor="t">
            <a:spAutoFit/>
          </a:bodyPr>
          <a:lstStyle/>
          <a:p>
            <a:pPr algn="l">
              <a:lnSpc>
                <a:spcPct val="125000"/>
              </a:lnSpc>
              <a:spcAft>
                <a:spcPts val="0"/>
              </a:spcAft>
            </a:pPr>
            <a:r>
              <a:rPr sz="1200" b="0" i="0">
                <a:solidFill>
                  <a:srgbClr val="4A5262"/>
                </a:solidFill>
                <a:latin typeface="Arial"/>
              </a:rPr>
              <a:t>18 h</a:t>
            </a:r>
          </a:p>
        </p:txBody>
      </p:sp>
      <p:sp>
        <p:nvSpPr>
          <p:cNvPr id="32" name="TextBox 31"/>
          <p:cNvSpPr txBox="1"/>
          <p:nvPr/>
        </p:nvSpPr>
        <p:spPr>
          <a:xfrm>
            <a:off x="7126816" y="4711700"/>
            <a:ext cx="508000" cy="215900"/>
          </a:xfrm>
          <a:prstGeom prst="rect">
            <a:avLst/>
          </a:prstGeom>
          <a:noFill/>
        </p:spPr>
        <p:txBody>
          <a:bodyPr wrap="square" lIns="0" rIns="0" tIns="0" bIns="0" anchor="t">
            <a:spAutoFit/>
          </a:bodyPr>
          <a:lstStyle/>
          <a:p>
            <a:pPr algn="l">
              <a:lnSpc>
                <a:spcPct val="125000"/>
              </a:lnSpc>
              <a:spcAft>
                <a:spcPts val="0"/>
              </a:spcAft>
            </a:pPr>
            <a:r>
              <a:rPr sz="1200" b="0" i="0">
                <a:solidFill>
                  <a:srgbClr val="4A5262"/>
                </a:solidFill>
                <a:latin typeface="Arial"/>
              </a:rPr>
              <a:t>23 h</a:t>
            </a:r>
          </a:p>
        </p:txBody>
      </p:sp>
      <p:sp>
        <p:nvSpPr>
          <p:cNvPr id="33" name="TextBox 32"/>
          <p:cNvSpPr txBox="1"/>
          <p:nvPr/>
        </p:nvSpPr>
        <p:spPr>
          <a:xfrm>
            <a:off x="812800" y="5016500"/>
            <a:ext cx="6604000" cy="228600"/>
          </a:xfrm>
          <a:prstGeom prst="rect">
            <a:avLst/>
          </a:prstGeom>
          <a:noFill/>
        </p:spPr>
        <p:txBody>
          <a:bodyPr wrap="square" lIns="0" rIns="0" tIns="0" bIns="0" anchor="t">
            <a:spAutoFit/>
          </a:bodyPr>
          <a:lstStyle/>
          <a:p>
            <a:pPr algn="l">
              <a:lnSpc>
                <a:spcPct val="125000"/>
              </a:lnSpc>
              <a:spcAft>
                <a:spcPts val="0"/>
              </a:spcAft>
            </a:pPr>
            <a:r>
              <a:rPr sz="1200" b="0" i="0">
                <a:solidFill>
                  <a:srgbClr val="6B7280"/>
                </a:solidFill>
                <a:latin typeface="Arial"/>
              </a:rPr>
              <a:t>% marcadas por hora · 00–04 h: </a:t>
            </a:r>
            <a:r>
              <a:rPr sz="1200" b="1" i="0">
                <a:solidFill>
                  <a:srgbClr val="6B7280"/>
                </a:solidFill>
                <a:latin typeface="Arial"/>
              </a:rPr>
              <a:t>19.2%</a:t>
            </a:r>
            <a:r>
              <a:rPr sz="1200" b="0" i="0">
                <a:solidFill>
                  <a:srgbClr val="6B7280"/>
                </a:solidFill>
                <a:latin typeface="Arial"/>
              </a:rPr>
              <a:t> · 06–23 h: </a:t>
            </a:r>
            <a:r>
              <a:rPr sz="1200" b="1" i="0">
                <a:solidFill>
                  <a:srgbClr val="6B7280"/>
                </a:solidFill>
                <a:latin typeface="Arial"/>
              </a:rPr>
              <a:t>2.4%</a:t>
            </a:r>
          </a:p>
        </p:txBody>
      </p:sp>
      <p:sp>
        <p:nvSpPr>
          <p:cNvPr id="34" name="Rounded Rectangle 33"/>
          <p:cNvSpPr/>
          <p:nvPr/>
        </p:nvSpPr>
        <p:spPr>
          <a:xfrm>
            <a:off x="7823200" y="2286000"/>
            <a:ext cx="3556000" cy="2540000"/>
          </a:xfrm>
          <a:prstGeom prst="roundRect">
            <a:avLst>
              <a:gd name="adj" fmla="val 4000"/>
            </a:avLst>
          </a:prstGeom>
          <a:solidFill>
            <a:srgbClr val="18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77200" y="2540000"/>
            <a:ext cx="3048000" cy="2032000"/>
          </a:xfrm>
          <a:prstGeom prst="rect">
            <a:avLst/>
          </a:prstGeom>
          <a:noFill/>
        </p:spPr>
        <p:txBody>
          <a:bodyPr wrap="square" lIns="0" rIns="0" tIns="0" bIns="0" anchor="t">
            <a:spAutoFit/>
          </a:bodyPr>
          <a:lstStyle/>
          <a:p>
            <a:pPr algn="l">
              <a:lnSpc>
                <a:spcPct val="135000"/>
              </a:lnSpc>
              <a:spcAft>
                <a:spcPts val="1000"/>
              </a:spcAft>
            </a:pPr>
            <a:r>
              <a:rPr sz="1300" b="0" i="0">
                <a:solidFill>
                  <a:srgbClr val="D7DBE1"/>
                </a:solidFill>
                <a:latin typeface="Arial"/>
              </a:rPr>
              <a:t>De acuerdo con Afriyie et al. (2023), el fraude con tarjeta se concentró entre las </a:t>
            </a:r>
            <a:r>
              <a:rPr sz="1300" b="1" i="0">
                <a:solidFill>
                  <a:srgbClr val="D7DBE1"/>
                </a:solidFill>
                <a:latin typeface="Arial"/>
              </a:rPr>
              <a:t>22:00 y las 04:00</a:t>
            </a:r>
            <a:r>
              <a:rPr sz="1300" b="0" i="0">
                <a:solidFill>
                  <a:srgbClr val="D7DBE1"/>
                </a:solidFill>
                <a:latin typeface="Arial"/>
              </a:rPr>
              <a:t>.</a:t>
            </a:r>
          </a:p>
          <a:p>
            <a:pPr algn="l">
              <a:lnSpc>
                <a:spcPct val="135000"/>
              </a:lnSpc>
              <a:spcAft>
                <a:spcPts val="1000"/>
              </a:spcAft>
            </a:pPr>
            <a:r>
              <a:rPr sz="1300" b="0" i="0">
                <a:solidFill>
                  <a:srgbClr val="D7DBE1"/>
                </a:solidFill>
                <a:latin typeface="Arial"/>
              </a:rPr>
              <a:t>Accertify (2026) reporta que, de 2021 a 2025, la tasa de fraude nocturna fue en promedio </a:t>
            </a:r>
            <a:r>
              <a:rPr sz="1300" b="1" i="0">
                <a:solidFill>
                  <a:srgbClr val="D7DBE1"/>
                </a:solidFill>
                <a:latin typeface="Arial"/>
              </a:rPr>
              <a:t>2.1 veces</a:t>
            </a:r>
            <a:r>
              <a:rPr sz="1300" b="0" i="0">
                <a:solidFill>
                  <a:srgbClr val="D7DBE1"/>
                </a:solidFill>
                <a:latin typeface="Arial"/>
              </a:rPr>
              <a:t> la de mediodía.</a:t>
            </a:r>
          </a:p>
        </p:txBody>
      </p:sp>
      <p:sp>
        <p:nvSpPr>
          <p:cNvPr id="36" name="TextBox 35"/>
          <p:cNvSpPr txBox="1"/>
          <p:nvPr/>
        </p:nvSpPr>
        <p:spPr>
          <a:xfrm>
            <a:off x="812800" y="6223000"/>
            <a:ext cx="10566400" cy="228600"/>
          </a:xfrm>
          <a:prstGeom prst="rect">
            <a:avLst/>
          </a:prstGeom>
          <a:noFill/>
        </p:spPr>
        <p:txBody>
          <a:bodyPr wrap="square" lIns="0" rIns="0" tIns="0" bIns="0" anchor="t">
            <a:spAutoFit/>
          </a:bodyPr>
          <a:lstStyle/>
          <a:p>
            <a:pPr algn="l">
              <a:lnSpc>
                <a:spcPct val="125000"/>
              </a:lnSpc>
              <a:spcAft>
                <a:spcPts val="0"/>
              </a:spcAft>
            </a:pPr>
            <a:r>
              <a:rPr sz="1200" b="0" i="0">
                <a:solidFill>
                  <a:srgbClr val="6B7280"/>
                </a:solidFill>
                <a:latin typeface="Arial"/>
              </a:rPr>
              <a:t>Fuentes: resultados del modelo; Afriyie et al., 2023 (Decision Analytics Journal); Accertify, 2026; Woodward, 2017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square" lIns="0" rIns="0" tIns="0" bIns="0" anchor="t">
            <a:spAutoFit/>
          </a:bodyPr>
          <a:lstStyle/>
          <a:p>
            <a:pPr algn="l">
              <a:lnSpc>
                <a:spcPct val="125000"/>
              </a:lnSpc>
              <a:spcAft>
                <a:spcPts val="0"/>
              </a:spcAft>
            </a:pPr>
            <a:r>
              <a:rPr sz="1200" b="1" i="0">
                <a:solidFill>
                  <a:srgbClr val="B5491F"/>
                </a:solidFill>
                <a:latin typeface="Arial"/>
              </a:rPr>
              <a:t>ESTADOS</a:t>
            </a:r>
          </a:p>
        </p:txBody>
      </p:sp>
      <p:sp>
        <p:nvSpPr>
          <p:cNvPr id="3" name="TextBox 2"/>
          <p:cNvSpPr txBox="1"/>
          <p:nvPr/>
        </p:nvSpPr>
        <p:spPr>
          <a:xfrm>
            <a:off x="812800" y="1079500"/>
            <a:ext cx="10566400" cy="571500"/>
          </a:xfrm>
          <a:prstGeom prst="rect">
            <a:avLst/>
          </a:prstGeom>
          <a:noFill/>
        </p:spPr>
        <p:txBody>
          <a:bodyPr wrap="square" lIns="0" rIns="0" tIns="0" bIns="0" anchor="t">
            <a:spAutoFit/>
          </a:bodyPr>
          <a:lstStyle/>
          <a:p>
            <a:pPr algn="l">
              <a:lnSpc>
                <a:spcPct val="110000"/>
              </a:lnSpc>
              <a:spcAft>
                <a:spcPts val="0"/>
              </a:spcAft>
            </a:pPr>
            <a:r>
              <a:rPr sz="3200" b="1" i="0">
                <a:solidFill>
                  <a:srgbClr val="1B2230"/>
                </a:solidFill>
                <a:latin typeface="Georgia"/>
              </a:rPr>
              <a:t>Dónde se marcan más transacciones</a:t>
            </a:r>
          </a:p>
        </p:txBody>
      </p:sp>
      <p:sp>
        <p:nvSpPr>
          <p:cNvPr id="4" name="Rounded Rectangle 3"/>
          <p:cNvSpPr/>
          <p:nvPr/>
        </p:nvSpPr>
        <p:spPr>
          <a:xfrm>
            <a:off x="812800" y="1879600"/>
            <a:ext cx="6172200" cy="3886200"/>
          </a:xfrm>
          <a:prstGeom prst="roundRect">
            <a:avLst>
              <a:gd name="adj" fmla="val 2614"/>
            </a:avLst>
          </a:prstGeom>
          <a:solidFill>
            <a:srgbClr val="FFFFFF"/>
          </a:solidFill>
          <a:ln w="9525">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11_state_map.png"/>
          <p:cNvPicPr>
            <a:picLocks noChangeAspect="1"/>
          </p:cNvPicPr>
          <p:nvPr/>
        </p:nvPicPr>
        <p:blipFill>
          <a:blip r:embed="rId3"/>
          <a:stretch>
            <a:fillRect/>
          </a:stretch>
        </p:blipFill>
        <p:spPr>
          <a:xfrm>
            <a:off x="1117600" y="1981200"/>
            <a:ext cx="4763347" cy="3683000"/>
          </a:xfrm>
          <a:prstGeom prst="rect">
            <a:avLst/>
          </a:prstGeom>
        </p:spPr>
      </p:pic>
      <p:sp>
        <p:nvSpPr>
          <p:cNvPr id="6" name="TextBox 5"/>
          <p:cNvSpPr txBox="1"/>
          <p:nvPr/>
        </p:nvSpPr>
        <p:spPr>
          <a:xfrm>
            <a:off x="7289800" y="1905000"/>
            <a:ext cx="4089400" cy="279400"/>
          </a:xfrm>
          <a:prstGeom prst="rect">
            <a:avLst/>
          </a:prstGeom>
          <a:noFill/>
        </p:spPr>
        <p:txBody>
          <a:bodyPr wrap="square" lIns="0" rIns="0" tIns="0" bIns="0" anchor="t">
            <a:spAutoFit/>
          </a:bodyPr>
          <a:lstStyle/>
          <a:p>
            <a:pPr algn="l">
              <a:lnSpc>
                <a:spcPct val="125000"/>
              </a:lnSpc>
              <a:spcAft>
                <a:spcPts val="0"/>
              </a:spcAft>
            </a:pPr>
            <a:r>
              <a:rPr sz="1600" b="1" i="0">
                <a:solidFill>
                  <a:srgbClr val="1B2230"/>
                </a:solidFill>
                <a:latin typeface="Arial"/>
              </a:rPr>
              <a:t>Tasas más altas</a:t>
            </a:r>
          </a:p>
        </p:txBody>
      </p:sp>
      <p:sp>
        <p:nvSpPr>
          <p:cNvPr id="7" name="TextBox 6"/>
          <p:cNvSpPr txBox="1"/>
          <p:nvPr/>
        </p:nvSpPr>
        <p:spPr>
          <a:xfrm>
            <a:off x="7289800" y="2298700"/>
            <a:ext cx="2921000" cy="254000"/>
          </a:xfrm>
          <a:prstGeom prst="rect">
            <a:avLst/>
          </a:prstGeom>
          <a:noFill/>
        </p:spPr>
        <p:txBody>
          <a:bodyPr wrap="square" lIns="0" rIns="0" tIns="0" bIns="0" anchor="t">
            <a:spAutoFit/>
          </a:bodyPr>
          <a:lstStyle/>
          <a:p>
            <a:pPr algn="l">
              <a:lnSpc>
                <a:spcPct val="125000"/>
              </a:lnSpc>
              <a:spcAft>
                <a:spcPts val="0"/>
              </a:spcAft>
            </a:pPr>
            <a:r>
              <a:rPr sz="1400" b="0" i="0">
                <a:solidFill>
                  <a:srgbClr val="1B2230"/>
                </a:solidFill>
                <a:latin typeface="Arial"/>
              </a:rPr>
              <a:t>1. Connecticut</a:t>
            </a:r>
          </a:p>
        </p:txBody>
      </p:sp>
      <p:sp>
        <p:nvSpPr>
          <p:cNvPr id="8" name="TextBox 7"/>
          <p:cNvSpPr txBox="1"/>
          <p:nvPr/>
        </p:nvSpPr>
        <p:spPr>
          <a:xfrm>
            <a:off x="10109200" y="2298700"/>
            <a:ext cx="1270000" cy="254000"/>
          </a:xfrm>
          <a:prstGeom prst="rect">
            <a:avLst/>
          </a:prstGeom>
          <a:noFill/>
        </p:spPr>
        <p:txBody>
          <a:bodyPr wrap="square" lIns="0" rIns="0" tIns="0" bIns="0" anchor="t">
            <a:spAutoFit/>
          </a:bodyPr>
          <a:lstStyle/>
          <a:p>
            <a:pPr algn="r">
              <a:lnSpc>
                <a:spcPct val="125000"/>
              </a:lnSpc>
              <a:spcAft>
                <a:spcPts val="0"/>
              </a:spcAft>
            </a:pPr>
            <a:r>
              <a:rPr sz="1400" b="1" i="0">
                <a:solidFill>
                  <a:srgbClr val="B5491F"/>
                </a:solidFill>
                <a:latin typeface="Arial"/>
              </a:rPr>
              <a:t>16.7%</a:t>
            </a:r>
          </a:p>
        </p:txBody>
      </p:sp>
      <p:sp>
        <p:nvSpPr>
          <p:cNvPr id="9" name="Rectangle 8"/>
          <p:cNvSpPr/>
          <p:nvPr/>
        </p:nvSpPr>
        <p:spPr>
          <a:xfrm>
            <a:off x="7289800" y="2616200"/>
            <a:ext cx="4089400" cy="6350"/>
          </a:xfrm>
          <a:prstGeom prst="rect">
            <a:avLst/>
          </a:prstGeom>
          <a:solidFill>
            <a:srgbClr val="DDD8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89800" y="2692400"/>
            <a:ext cx="2921000" cy="254000"/>
          </a:xfrm>
          <a:prstGeom prst="rect">
            <a:avLst/>
          </a:prstGeom>
          <a:noFill/>
        </p:spPr>
        <p:txBody>
          <a:bodyPr wrap="square" lIns="0" rIns="0" tIns="0" bIns="0" anchor="t">
            <a:spAutoFit/>
          </a:bodyPr>
          <a:lstStyle/>
          <a:p>
            <a:pPr algn="l">
              <a:lnSpc>
                <a:spcPct val="125000"/>
              </a:lnSpc>
              <a:spcAft>
                <a:spcPts val="0"/>
              </a:spcAft>
            </a:pPr>
            <a:r>
              <a:rPr sz="1400" b="0" i="0">
                <a:solidFill>
                  <a:srgbClr val="1B2230"/>
                </a:solidFill>
                <a:latin typeface="Arial"/>
              </a:rPr>
              <a:t>2. Alaska</a:t>
            </a:r>
          </a:p>
        </p:txBody>
      </p:sp>
      <p:sp>
        <p:nvSpPr>
          <p:cNvPr id="11" name="TextBox 10"/>
          <p:cNvSpPr txBox="1"/>
          <p:nvPr/>
        </p:nvSpPr>
        <p:spPr>
          <a:xfrm>
            <a:off x="10109200" y="2692400"/>
            <a:ext cx="1270000" cy="254000"/>
          </a:xfrm>
          <a:prstGeom prst="rect">
            <a:avLst/>
          </a:prstGeom>
          <a:noFill/>
        </p:spPr>
        <p:txBody>
          <a:bodyPr wrap="square" lIns="0" rIns="0" tIns="0" bIns="0" anchor="t">
            <a:spAutoFit/>
          </a:bodyPr>
          <a:lstStyle/>
          <a:p>
            <a:pPr algn="r">
              <a:lnSpc>
                <a:spcPct val="125000"/>
              </a:lnSpc>
              <a:spcAft>
                <a:spcPts val="0"/>
              </a:spcAft>
            </a:pPr>
            <a:r>
              <a:rPr sz="1400" b="1" i="0">
                <a:solidFill>
                  <a:srgbClr val="B5491F"/>
                </a:solidFill>
                <a:latin typeface="Arial"/>
              </a:rPr>
              <a:t>15.0%</a:t>
            </a:r>
          </a:p>
        </p:txBody>
      </p:sp>
      <p:sp>
        <p:nvSpPr>
          <p:cNvPr id="12" name="Rectangle 11"/>
          <p:cNvSpPr/>
          <p:nvPr/>
        </p:nvSpPr>
        <p:spPr>
          <a:xfrm>
            <a:off x="7289800" y="3009900"/>
            <a:ext cx="4089400" cy="6350"/>
          </a:xfrm>
          <a:prstGeom prst="rect">
            <a:avLst/>
          </a:prstGeom>
          <a:solidFill>
            <a:srgbClr val="DDD8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89800" y="3086100"/>
            <a:ext cx="2921000" cy="254000"/>
          </a:xfrm>
          <a:prstGeom prst="rect">
            <a:avLst/>
          </a:prstGeom>
          <a:noFill/>
        </p:spPr>
        <p:txBody>
          <a:bodyPr wrap="square" lIns="0" rIns="0" tIns="0" bIns="0" anchor="t">
            <a:spAutoFit/>
          </a:bodyPr>
          <a:lstStyle/>
          <a:p>
            <a:pPr algn="l">
              <a:lnSpc>
                <a:spcPct val="125000"/>
              </a:lnSpc>
              <a:spcAft>
                <a:spcPts val="0"/>
              </a:spcAft>
            </a:pPr>
            <a:r>
              <a:rPr sz="1400" b="0" i="0">
                <a:solidFill>
                  <a:srgbClr val="1B2230"/>
                </a:solidFill>
                <a:latin typeface="Arial"/>
              </a:rPr>
              <a:t>3. West Virginia</a:t>
            </a:r>
          </a:p>
        </p:txBody>
      </p:sp>
      <p:sp>
        <p:nvSpPr>
          <p:cNvPr id="14" name="TextBox 13"/>
          <p:cNvSpPr txBox="1"/>
          <p:nvPr/>
        </p:nvSpPr>
        <p:spPr>
          <a:xfrm>
            <a:off x="10109200" y="3086100"/>
            <a:ext cx="1270000" cy="254000"/>
          </a:xfrm>
          <a:prstGeom prst="rect">
            <a:avLst/>
          </a:prstGeom>
          <a:noFill/>
        </p:spPr>
        <p:txBody>
          <a:bodyPr wrap="square" lIns="0" rIns="0" tIns="0" bIns="0" anchor="t">
            <a:spAutoFit/>
          </a:bodyPr>
          <a:lstStyle/>
          <a:p>
            <a:pPr algn="r">
              <a:lnSpc>
                <a:spcPct val="125000"/>
              </a:lnSpc>
              <a:spcAft>
                <a:spcPts val="0"/>
              </a:spcAft>
            </a:pPr>
            <a:r>
              <a:rPr sz="1400" b="1" i="0">
                <a:solidFill>
                  <a:srgbClr val="B5491F"/>
                </a:solidFill>
                <a:latin typeface="Arial"/>
              </a:rPr>
              <a:t>15.0%</a:t>
            </a:r>
          </a:p>
        </p:txBody>
      </p:sp>
      <p:sp>
        <p:nvSpPr>
          <p:cNvPr id="15" name="Rectangle 14"/>
          <p:cNvSpPr/>
          <p:nvPr/>
        </p:nvSpPr>
        <p:spPr>
          <a:xfrm>
            <a:off x="7289800" y="3403600"/>
            <a:ext cx="4089400" cy="6350"/>
          </a:xfrm>
          <a:prstGeom prst="rect">
            <a:avLst/>
          </a:prstGeom>
          <a:solidFill>
            <a:srgbClr val="DDD8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89800" y="3479800"/>
            <a:ext cx="2921000" cy="254000"/>
          </a:xfrm>
          <a:prstGeom prst="rect">
            <a:avLst/>
          </a:prstGeom>
          <a:noFill/>
        </p:spPr>
        <p:txBody>
          <a:bodyPr wrap="square" lIns="0" rIns="0" tIns="0" bIns="0" anchor="t">
            <a:spAutoFit/>
          </a:bodyPr>
          <a:lstStyle/>
          <a:p>
            <a:pPr algn="l">
              <a:lnSpc>
                <a:spcPct val="125000"/>
              </a:lnSpc>
              <a:spcAft>
                <a:spcPts val="0"/>
              </a:spcAft>
            </a:pPr>
            <a:r>
              <a:rPr sz="1400" b="0" i="0">
                <a:solidFill>
                  <a:srgbClr val="1B2230"/>
                </a:solidFill>
                <a:latin typeface="Arial"/>
              </a:rPr>
              <a:t>4. Kansas</a:t>
            </a:r>
          </a:p>
        </p:txBody>
      </p:sp>
      <p:sp>
        <p:nvSpPr>
          <p:cNvPr id="17" name="TextBox 16"/>
          <p:cNvSpPr txBox="1"/>
          <p:nvPr/>
        </p:nvSpPr>
        <p:spPr>
          <a:xfrm>
            <a:off x="10109200" y="3479800"/>
            <a:ext cx="1270000" cy="254000"/>
          </a:xfrm>
          <a:prstGeom prst="rect">
            <a:avLst/>
          </a:prstGeom>
          <a:noFill/>
        </p:spPr>
        <p:txBody>
          <a:bodyPr wrap="square" lIns="0" rIns="0" tIns="0" bIns="0" anchor="t">
            <a:spAutoFit/>
          </a:bodyPr>
          <a:lstStyle/>
          <a:p>
            <a:pPr algn="r">
              <a:lnSpc>
                <a:spcPct val="125000"/>
              </a:lnSpc>
              <a:spcAft>
                <a:spcPts val="0"/>
              </a:spcAft>
            </a:pPr>
            <a:r>
              <a:rPr sz="1400" b="1" i="0">
                <a:solidFill>
                  <a:srgbClr val="B5491F"/>
                </a:solidFill>
                <a:latin typeface="Arial"/>
              </a:rPr>
              <a:t>13.8%</a:t>
            </a:r>
          </a:p>
        </p:txBody>
      </p:sp>
      <p:sp>
        <p:nvSpPr>
          <p:cNvPr id="18" name="Rectangle 17"/>
          <p:cNvSpPr/>
          <p:nvPr/>
        </p:nvSpPr>
        <p:spPr>
          <a:xfrm>
            <a:off x="7289800" y="3797300"/>
            <a:ext cx="4089400" cy="6350"/>
          </a:xfrm>
          <a:prstGeom prst="rect">
            <a:avLst/>
          </a:prstGeom>
          <a:solidFill>
            <a:srgbClr val="DDD8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89800" y="3873500"/>
            <a:ext cx="2921000" cy="254000"/>
          </a:xfrm>
          <a:prstGeom prst="rect">
            <a:avLst/>
          </a:prstGeom>
          <a:noFill/>
        </p:spPr>
        <p:txBody>
          <a:bodyPr wrap="square" lIns="0" rIns="0" tIns="0" bIns="0" anchor="t">
            <a:spAutoFit/>
          </a:bodyPr>
          <a:lstStyle/>
          <a:p>
            <a:pPr algn="l">
              <a:lnSpc>
                <a:spcPct val="125000"/>
              </a:lnSpc>
              <a:spcAft>
                <a:spcPts val="0"/>
              </a:spcAft>
            </a:pPr>
            <a:r>
              <a:rPr sz="1400" b="0" i="0">
                <a:solidFill>
                  <a:srgbClr val="1B2230"/>
                </a:solidFill>
                <a:latin typeface="Arial"/>
              </a:rPr>
              <a:t>5. Minnesota</a:t>
            </a:r>
          </a:p>
        </p:txBody>
      </p:sp>
      <p:sp>
        <p:nvSpPr>
          <p:cNvPr id="20" name="TextBox 19"/>
          <p:cNvSpPr txBox="1"/>
          <p:nvPr/>
        </p:nvSpPr>
        <p:spPr>
          <a:xfrm>
            <a:off x="10109200" y="3873500"/>
            <a:ext cx="1270000" cy="254000"/>
          </a:xfrm>
          <a:prstGeom prst="rect">
            <a:avLst/>
          </a:prstGeom>
          <a:noFill/>
        </p:spPr>
        <p:txBody>
          <a:bodyPr wrap="square" lIns="0" rIns="0" tIns="0" bIns="0" anchor="t">
            <a:spAutoFit/>
          </a:bodyPr>
          <a:lstStyle/>
          <a:p>
            <a:pPr algn="r">
              <a:lnSpc>
                <a:spcPct val="125000"/>
              </a:lnSpc>
              <a:spcAft>
                <a:spcPts val="0"/>
              </a:spcAft>
            </a:pPr>
            <a:r>
              <a:rPr sz="1400" b="1" i="0">
                <a:solidFill>
                  <a:srgbClr val="B5491F"/>
                </a:solidFill>
                <a:latin typeface="Arial"/>
              </a:rPr>
              <a:t>10.5%</a:t>
            </a:r>
          </a:p>
        </p:txBody>
      </p:sp>
      <p:sp>
        <p:nvSpPr>
          <p:cNvPr id="21" name="Rectangle 20"/>
          <p:cNvSpPr/>
          <p:nvPr/>
        </p:nvSpPr>
        <p:spPr>
          <a:xfrm>
            <a:off x="7289800" y="4191000"/>
            <a:ext cx="4089400" cy="6350"/>
          </a:xfrm>
          <a:prstGeom prst="rect">
            <a:avLst/>
          </a:prstGeom>
          <a:solidFill>
            <a:srgbClr val="DDD8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89800" y="4381500"/>
            <a:ext cx="4089400" cy="762000"/>
          </a:xfrm>
          <a:prstGeom prst="rect">
            <a:avLst/>
          </a:prstGeom>
          <a:noFill/>
        </p:spPr>
        <p:txBody>
          <a:bodyPr wrap="square" lIns="0" rIns="0" tIns="0" bIns="0" anchor="t">
            <a:spAutoFit/>
          </a:bodyPr>
          <a:lstStyle/>
          <a:p>
            <a:pPr algn="l">
              <a:lnSpc>
                <a:spcPct val="130000"/>
              </a:lnSpc>
              <a:spcAft>
                <a:spcPts val="0"/>
              </a:spcAft>
            </a:pPr>
            <a:r>
              <a:rPr sz="1300" b="0" i="0">
                <a:solidFill>
                  <a:srgbClr val="4A5262"/>
                </a:solidFill>
                <a:latin typeface="Arial"/>
              </a:rPr>
              <a:t>Los estados más grandes quedan cerca del 2% esperado: Texas 2.9% y California 2.8%.</a:t>
            </a:r>
          </a:p>
        </p:txBody>
      </p:sp>
      <p:sp>
        <p:nvSpPr>
          <p:cNvPr id="23" name="TextBox 22"/>
          <p:cNvSpPr txBox="1"/>
          <p:nvPr/>
        </p:nvSpPr>
        <p:spPr>
          <a:xfrm>
            <a:off x="812800" y="6223000"/>
            <a:ext cx="10566400" cy="228600"/>
          </a:xfrm>
          <a:prstGeom prst="rect">
            <a:avLst/>
          </a:prstGeom>
          <a:noFill/>
        </p:spPr>
        <p:txBody>
          <a:bodyPr wrap="square" lIns="0" rIns="0" tIns="0" bIns="0" anchor="t">
            <a:spAutoFit/>
          </a:bodyPr>
          <a:lstStyle/>
          <a:p>
            <a:pPr algn="l">
              <a:lnSpc>
                <a:spcPct val="125000"/>
              </a:lnSpc>
              <a:spcAft>
                <a:spcPts val="0"/>
              </a:spcAft>
            </a:pPr>
            <a:r>
              <a:rPr sz="1200" b="0" i="0">
                <a:solidFill>
                  <a:srgbClr val="6B7280"/>
                </a:solidFill>
                <a:latin typeface="Arial"/>
              </a:rPr>
              <a:t>Fuente: resultados del modelo, datos completos (mínimo 15 transacciones por estado; Alaska, Hawái y Puerto Rico no aparecen en el mapa)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square" lIns="0" rIns="0" tIns="0" bIns="0" anchor="t">
            <a:spAutoFit/>
          </a:bodyPr>
          <a:lstStyle/>
          <a:p>
            <a:pPr algn="l">
              <a:lnSpc>
                <a:spcPct val="125000"/>
              </a:lnSpc>
              <a:spcAft>
                <a:spcPts val="0"/>
              </a:spcAft>
            </a:pPr>
            <a:r>
              <a:rPr sz="1200" b="1" i="0">
                <a:solidFill>
                  <a:srgbClr val="B5491F"/>
                </a:solidFill>
                <a:latin typeface="Arial"/>
              </a:rPr>
              <a:t>ESTADOS</a:t>
            </a:r>
          </a:p>
        </p:txBody>
      </p:sp>
      <p:sp>
        <p:nvSpPr>
          <p:cNvPr id="3" name="TextBox 2"/>
          <p:cNvSpPr txBox="1"/>
          <p:nvPr/>
        </p:nvSpPr>
        <p:spPr>
          <a:xfrm>
            <a:off x="812800" y="1079500"/>
            <a:ext cx="10566400" cy="571500"/>
          </a:xfrm>
          <a:prstGeom prst="rect">
            <a:avLst/>
          </a:prstGeom>
          <a:noFill/>
        </p:spPr>
        <p:txBody>
          <a:bodyPr wrap="square" lIns="0" rIns="0" tIns="0" bIns="0" anchor="t">
            <a:spAutoFit/>
          </a:bodyPr>
          <a:lstStyle/>
          <a:p>
            <a:pPr algn="l">
              <a:lnSpc>
                <a:spcPct val="110000"/>
              </a:lnSpc>
              <a:spcAft>
                <a:spcPts val="0"/>
              </a:spcAft>
            </a:pPr>
            <a:r>
              <a:rPr sz="3200" b="1" i="0">
                <a:solidFill>
                  <a:srgbClr val="1B2230"/>
                </a:solidFill>
                <a:latin typeface="Georgia"/>
              </a:rPr>
              <a:t>Las tasas extremas vienen de muestras chicas</a:t>
            </a:r>
          </a:p>
        </p:txBody>
      </p:sp>
      <p:graphicFrame>
        <p:nvGraphicFramePr>
          <p:cNvPr id="4" name="Table 3"/>
          <p:cNvGraphicFramePr>
            <a:graphicFrameLocks noGrp="1"/>
          </p:cNvGraphicFramePr>
          <p:nvPr/>
        </p:nvGraphicFramePr>
        <p:xfrm>
          <a:off x="812800" y="1879600"/>
          <a:ext cx="6432550" cy="2540000"/>
        </p:xfrm>
        <a:graphic>
          <a:graphicData uri="http://schemas.openxmlformats.org/drawingml/2006/table">
            <a:tbl>
              <a:tblPr firstRow="1" bandRow="1">
                <a:tableStyleId>{5C22544A-7EE6-4342-B048-85BDC9FD1C3A}</a:tableStyleId>
              </a:tblPr>
              <a:tblGrid>
                <a:gridCol w="2190750"/>
                <a:gridCol w="1543050"/>
                <a:gridCol w="1155700"/>
                <a:gridCol w="1543050"/>
              </a:tblGrid>
              <a:tr h="317500">
                <a:tc>
                  <a:txBody>
                    <a:bodyPr/>
                    <a:lstStyle/>
                    <a:p>
                      <a:pPr algn="l"/>
                      <a:r>
                        <a:rPr sz="1200" b="1">
                          <a:solidFill>
                            <a:srgbClr val="1B2230"/>
                          </a:solidFill>
                          <a:latin typeface="Arial"/>
                        </a:rPr>
                        <a:t>Estado</a:t>
                      </a:r>
                    </a:p>
                  </a:txBody>
                  <a:tcPr anchor="ctr">
                    <a:solidFill>
                      <a:srgbClr val="E1DCD1"/>
                    </a:solidFill>
                  </a:tcPr>
                </a:tc>
                <a:tc>
                  <a:txBody>
                    <a:bodyPr/>
                    <a:lstStyle/>
                    <a:p>
                      <a:pPr algn="r"/>
                      <a:r>
                        <a:rPr sz="1200" b="1">
                          <a:solidFill>
                            <a:srgbClr val="1B2230"/>
                          </a:solidFill>
                          <a:latin typeface="Arial"/>
                        </a:rPr>
                        <a:t>Transacciones</a:t>
                      </a:r>
                    </a:p>
                  </a:txBody>
                  <a:tcPr anchor="ctr">
                    <a:solidFill>
                      <a:srgbClr val="E1DCD1"/>
                    </a:solidFill>
                  </a:tcPr>
                </a:tc>
                <a:tc>
                  <a:txBody>
                    <a:bodyPr/>
                    <a:lstStyle/>
                    <a:p>
                      <a:pPr algn="r"/>
                      <a:r>
                        <a:rPr sz="1200" b="1">
                          <a:solidFill>
                            <a:srgbClr val="1B2230"/>
                          </a:solidFill>
                          <a:latin typeface="Arial"/>
                        </a:rPr>
                        <a:t>Tasa</a:t>
                      </a:r>
                    </a:p>
                  </a:txBody>
                  <a:tcPr anchor="ctr">
                    <a:solidFill>
                      <a:srgbClr val="E1DCD1"/>
                    </a:solidFill>
                  </a:tcPr>
                </a:tc>
                <a:tc>
                  <a:txBody>
                    <a:bodyPr/>
                    <a:lstStyle/>
                    <a:p>
                      <a:pPr algn="l"/>
                      <a:r>
                        <a:rPr sz="1200" b="1">
                          <a:solidFill>
                            <a:srgbClr val="1B2230"/>
                          </a:solidFill>
                          <a:latin typeface="Arial"/>
                        </a:rPr>
                        <a:t>Datos</a:t>
                      </a:r>
                    </a:p>
                  </a:txBody>
                  <a:tcPr anchor="ctr">
                    <a:solidFill>
                      <a:srgbClr val="E1DCD1"/>
                    </a:solidFill>
                  </a:tcPr>
                </a:tc>
              </a:tr>
              <a:tr h="317500">
                <a:tc>
                  <a:txBody>
                    <a:bodyPr/>
                    <a:lstStyle/>
                    <a:p>
                      <a:pPr algn="l"/>
                      <a:r>
                        <a:rPr sz="1200" b="0">
                          <a:solidFill>
                            <a:srgbClr val="1B2230"/>
                          </a:solidFill>
                          <a:latin typeface="Arial"/>
                        </a:rPr>
                        <a:t>Connecticut</a:t>
                      </a:r>
                    </a:p>
                  </a:txBody>
                  <a:tcPr anchor="ctr">
                    <a:solidFill>
                      <a:srgbClr val="FBFAF6"/>
                    </a:solidFill>
                  </a:tcPr>
                </a:tc>
                <a:tc>
                  <a:txBody>
                    <a:bodyPr/>
                    <a:lstStyle/>
                    <a:p>
                      <a:pPr algn="r"/>
                      <a:r>
                        <a:rPr sz="1200" b="0">
                          <a:solidFill>
                            <a:srgbClr val="1B2230"/>
                          </a:solidFill>
                          <a:latin typeface="Arial"/>
                        </a:rPr>
                        <a:t>36</a:t>
                      </a:r>
                    </a:p>
                  </a:txBody>
                  <a:tcPr anchor="ctr">
                    <a:solidFill>
                      <a:srgbClr val="FBFAF6"/>
                    </a:solidFill>
                  </a:tcPr>
                </a:tc>
                <a:tc>
                  <a:txBody>
                    <a:bodyPr/>
                    <a:lstStyle/>
                    <a:p>
                      <a:pPr algn="r"/>
                      <a:r>
                        <a:rPr sz="1200" b="0">
                          <a:solidFill>
                            <a:srgbClr val="1B2230"/>
                          </a:solidFill>
                          <a:latin typeface="Arial"/>
                        </a:rPr>
                        <a:t>16.7%</a:t>
                      </a:r>
                    </a:p>
                  </a:txBody>
                  <a:tcPr anchor="ctr">
                    <a:solidFill>
                      <a:srgbClr val="FBFAF6"/>
                    </a:solidFill>
                  </a:tcPr>
                </a:tc>
                <a:tc>
                  <a:txBody>
                    <a:bodyPr/>
                    <a:lstStyle/>
                    <a:p>
                      <a:pPr algn="l"/>
                      <a:r>
                        <a:rPr sz="1200" b="0">
                          <a:solidFill>
                            <a:srgbClr val="1B2230"/>
                          </a:solidFill>
                          <a:latin typeface="Arial"/>
                        </a:rPr>
                        <a:t>Sintéticos</a:t>
                      </a:r>
                    </a:p>
                  </a:txBody>
                  <a:tcPr anchor="ctr">
                    <a:solidFill>
                      <a:srgbClr val="FBFAF6"/>
                    </a:solidFill>
                  </a:tcPr>
                </a:tc>
              </a:tr>
              <a:tr h="317500">
                <a:tc>
                  <a:txBody>
                    <a:bodyPr/>
                    <a:lstStyle/>
                    <a:p>
                      <a:pPr algn="l"/>
                      <a:r>
                        <a:rPr sz="1200" b="0">
                          <a:solidFill>
                            <a:srgbClr val="1B2230"/>
                          </a:solidFill>
                          <a:latin typeface="Arial"/>
                        </a:rPr>
                        <a:t>Alaska</a:t>
                      </a:r>
                    </a:p>
                  </a:txBody>
                  <a:tcPr anchor="ctr">
                    <a:solidFill>
                      <a:srgbClr val="FBFAF6"/>
                    </a:solidFill>
                  </a:tcPr>
                </a:tc>
                <a:tc>
                  <a:txBody>
                    <a:bodyPr/>
                    <a:lstStyle/>
                    <a:p>
                      <a:pPr algn="r"/>
                      <a:r>
                        <a:rPr sz="1200" b="0">
                          <a:solidFill>
                            <a:srgbClr val="1B2230"/>
                          </a:solidFill>
                          <a:latin typeface="Arial"/>
                        </a:rPr>
                        <a:t>20</a:t>
                      </a:r>
                    </a:p>
                  </a:txBody>
                  <a:tcPr anchor="ctr">
                    <a:solidFill>
                      <a:srgbClr val="FBFAF6"/>
                    </a:solidFill>
                  </a:tcPr>
                </a:tc>
                <a:tc>
                  <a:txBody>
                    <a:bodyPr/>
                    <a:lstStyle/>
                    <a:p>
                      <a:pPr algn="r"/>
                      <a:r>
                        <a:rPr sz="1200" b="0">
                          <a:solidFill>
                            <a:srgbClr val="1B2230"/>
                          </a:solidFill>
                          <a:latin typeface="Arial"/>
                        </a:rPr>
                        <a:t>15.0%</a:t>
                      </a:r>
                    </a:p>
                  </a:txBody>
                  <a:tcPr anchor="ctr">
                    <a:solidFill>
                      <a:srgbClr val="FBFAF6"/>
                    </a:solidFill>
                  </a:tcPr>
                </a:tc>
                <a:tc>
                  <a:txBody>
                    <a:bodyPr/>
                    <a:lstStyle/>
                    <a:p>
                      <a:pPr algn="l"/>
                      <a:r>
                        <a:rPr sz="1200" b="0">
                          <a:solidFill>
                            <a:srgbClr val="1B2230"/>
                          </a:solidFill>
                          <a:latin typeface="Arial"/>
                        </a:rPr>
                        <a:t>Sintéticos</a:t>
                      </a:r>
                    </a:p>
                  </a:txBody>
                  <a:tcPr anchor="ctr">
                    <a:solidFill>
                      <a:srgbClr val="FBFAF6"/>
                    </a:solidFill>
                  </a:tcPr>
                </a:tc>
              </a:tr>
              <a:tr h="317500">
                <a:tc>
                  <a:txBody>
                    <a:bodyPr/>
                    <a:lstStyle/>
                    <a:p>
                      <a:pPr algn="l"/>
                      <a:r>
                        <a:rPr sz="1200" b="0">
                          <a:solidFill>
                            <a:srgbClr val="1B2230"/>
                          </a:solidFill>
                          <a:latin typeface="Arial"/>
                        </a:rPr>
                        <a:t>West Virginia</a:t>
                      </a:r>
                    </a:p>
                  </a:txBody>
                  <a:tcPr anchor="ctr">
                    <a:solidFill>
                      <a:srgbClr val="FBFAF6"/>
                    </a:solidFill>
                  </a:tcPr>
                </a:tc>
                <a:tc>
                  <a:txBody>
                    <a:bodyPr/>
                    <a:lstStyle/>
                    <a:p>
                      <a:pPr algn="r"/>
                      <a:r>
                        <a:rPr sz="1200" b="0">
                          <a:solidFill>
                            <a:srgbClr val="1B2230"/>
                          </a:solidFill>
                          <a:latin typeface="Arial"/>
                        </a:rPr>
                        <a:t>20</a:t>
                      </a:r>
                    </a:p>
                  </a:txBody>
                  <a:tcPr anchor="ctr">
                    <a:solidFill>
                      <a:srgbClr val="FBFAF6"/>
                    </a:solidFill>
                  </a:tcPr>
                </a:tc>
                <a:tc>
                  <a:txBody>
                    <a:bodyPr/>
                    <a:lstStyle/>
                    <a:p>
                      <a:pPr algn="r"/>
                      <a:r>
                        <a:rPr sz="1200" b="0">
                          <a:solidFill>
                            <a:srgbClr val="1B2230"/>
                          </a:solidFill>
                          <a:latin typeface="Arial"/>
                        </a:rPr>
                        <a:t>15.0%</a:t>
                      </a:r>
                    </a:p>
                  </a:txBody>
                  <a:tcPr anchor="ctr">
                    <a:solidFill>
                      <a:srgbClr val="FBFAF6"/>
                    </a:solidFill>
                  </a:tcPr>
                </a:tc>
                <a:tc>
                  <a:txBody>
                    <a:bodyPr/>
                    <a:lstStyle/>
                    <a:p>
                      <a:pPr algn="l"/>
                      <a:r>
                        <a:rPr sz="1200" b="0">
                          <a:solidFill>
                            <a:srgbClr val="1B2230"/>
                          </a:solidFill>
                          <a:latin typeface="Arial"/>
                        </a:rPr>
                        <a:t>Sintéticos</a:t>
                      </a:r>
                    </a:p>
                  </a:txBody>
                  <a:tcPr anchor="ctr">
                    <a:solidFill>
                      <a:srgbClr val="FBFAF6"/>
                    </a:solidFill>
                  </a:tcPr>
                </a:tc>
              </a:tr>
              <a:tr h="317500">
                <a:tc>
                  <a:txBody>
                    <a:bodyPr/>
                    <a:lstStyle/>
                    <a:p>
                      <a:pPr algn="l"/>
                      <a:r>
                        <a:rPr sz="1200" b="0">
                          <a:solidFill>
                            <a:srgbClr val="1B2230"/>
                          </a:solidFill>
                          <a:latin typeface="Arial"/>
                        </a:rPr>
                        <a:t>Kansas</a:t>
                      </a:r>
                    </a:p>
                  </a:txBody>
                  <a:tcPr anchor="ctr">
                    <a:solidFill>
                      <a:srgbClr val="FBFAF6"/>
                    </a:solidFill>
                  </a:tcPr>
                </a:tc>
                <a:tc>
                  <a:txBody>
                    <a:bodyPr/>
                    <a:lstStyle/>
                    <a:p>
                      <a:pPr algn="r"/>
                      <a:r>
                        <a:rPr sz="1200" b="0">
                          <a:solidFill>
                            <a:srgbClr val="1B2230"/>
                          </a:solidFill>
                          <a:latin typeface="Arial"/>
                        </a:rPr>
                        <a:t>29</a:t>
                      </a:r>
                    </a:p>
                  </a:txBody>
                  <a:tcPr anchor="ctr">
                    <a:solidFill>
                      <a:srgbClr val="FBFAF6"/>
                    </a:solidFill>
                  </a:tcPr>
                </a:tc>
                <a:tc>
                  <a:txBody>
                    <a:bodyPr/>
                    <a:lstStyle/>
                    <a:p>
                      <a:pPr algn="r"/>
                      <a:r>
                        <a:rPr sz="1200" b="0">
                          <a:solidFill>
                            <a:srgbClr val="1B2230"/>
                          </a:solidFill>
                          <a:latin typeface="Arial"/>
                        </a:rPr>
                        <a:t>13.8%</a:t>
                      </a:r>
                    </a:p>
                  </a:txBody>
                  <a:tcPr anchor="ctr">
                    <a:solidFill>
                      <a:srgbClr val="FBFAF6"/>
                    </a:solidFill>
                  </a:tcPr>
                </a:tc>
                <a:tc>
                  <a:txBody>
                    <a:bodyPr/>
                    <a:lstStyle/>
                    <a:p>
                      <a:pPr algn="l"/>
                      <a:r>
                        <a:rPr sz="1200" b="0">
                          <a:solidFill>
                            <a:srgbClr val="1B2230"/>
                          </a:solidFill>
                          <a:latin typeface="Arial"/>
                        </a:rPr>
                        <a:t>Sintéticos</a:t>
                      </a:r>
                    </a:p>
                  </a:txBody>
                  <a:tcPr anchor="ctr">
                    <a:solidFill>
                      <a:srgbClr val="FBFAF6"/>
                    </a:solidFill>
                  </a:tcPr>
                </a:tc>
              </a:tr>
              <a:tr h="317500">
                <a:tc>
                  <a:txBody>
                    <a:bodyPr/>
                    <a:lstStyle/>
                    <a:p>
                      <a:pPr algn="l"/>
                      <a:r>
                        <a:rPr sz="1200" b="0">
                          <a:solidFill>
                            <a:srgbClr val="1B2230"/>
                          </a:solidFill>
                          <a:latin typeface="Arial"/>
                        </a:rPr>
                        <a:t>Minnesota</a:t>
                      </a:r>
                    </a:p>
                  </a:txBody>
                  <a:tcPr anchor="ctr">
                    <a:solidFill>
                      <a:srgbClr val="FBFAF6"/>
                    </a:solidFill>
                  </a:tcPr>
                </a:tc>
                <a:tc>
                  <a:txBody>
                    <a:bodyPr/>
                    <a:lstStyle/>
                    <a:p>
                      <a:pPr algn="r"/>
                      <a:r>
                        <a:rPr sz="1200" b="0">
                          <a:solidFill>
                            <a:srgbClr val="1B2230"/>
                          </a:solidFill>
                          <a:latin typeface="Arial"/>
                        </a:rPr>
                        <a:t>57</a:t>
                      </a:r>
                    </a:p>
                  </a:txBody>
                  <a:tcPr anchor="ctr">
                    <a:solidFill>
                      <a:srgbClr val="FBFAF6"/>
                    </a:solidFill>
                  </a:tcPr>
                </a:tc>
                <a:tc>
                  <a:txBody>
                    <a:bodyPr/>
                    <a:lstStyle/>
                    <a:p>
                      <a:pPr algn="r"/>
                      <a:r>
                        <a:rPr sz="1200" b="0">
                          <a:solidFill>
                            <a:srgbClr val="1B2230"/>
                          </a:solidFill>
                          <a:latin typeface="Arial"/>
                        </a:rPr>
                        <a:t>10.5%</a:t>
                      </a:r>
                    </a:p>
                  </a:txBody>
                  <a:tcPr anchor="ctr">
                    <a:solidFill>
                      <a:srgbClr val="FBFAF6"/>
                    </a:solidFill>
                  </a:tcPr>
                </a:tc>
                <a:tc>
                  <a:txBody>
                    <a:bodyPr/>
                    <a:lstStyle/>
                    <a:p>
                      <a:pPr algn="l"/>
                      <a:r>
                        <a:rPr sz="1200" b="0">
                          <a:solidFill>
                            <a:srgbClr val="1B2230"/>
                          </a:solidFill>
                          <a:latin typeface="Arial"/>
                        </a:rPr>
                        <a:t>Sintéticos</a:t>
                      </a:r>
                    </a:p>
                  </a:txBody>
                  <a:tcPr anchor="ctr">
                    <a:solidFill>
                      <a:srgbClr val="FBFAF6"/>
                    </a:solidFill>
                  </a:tcPr>
                </a:tc>
              </a:tr>
              <a:tr h="317500">
                <a:tc>
                  <a:txBody>
                    <a:bodyPr/>
                    <a:lstStyle/>
                    <a:p>
                      <a:pPr algn="l"/>
                      <a:r>
                        <a:rPr sz="1200" b="0">
                          <a:solidFill>
                            <a:srgbClr val="1B2230"/>
                          </a:solidFill>
                          <a:latin typeface="Arial"/>
                        </a:rPr>
                        <a:t>Texas</a:t>
                      </a:r>
                    </a:p>
                  </a:txBody>
                  <a:tcPr anchor="ctr">
                    <a:solidFill>
                      <a:srgbClr val="E9E5DC"/>
                    </a:solidFill>
                  </a:tcPr>
                </a:tc>
                <a:tc>
                  <a:txBody>
                    <a:bodyPr/>
                    <a:lstStyle/>
                    <a:p>
                      <a:pPr algn="r"/>
                      <a:r>
                        <a:rPr sz="1200" b="0">
                          <a:solidFill>
                            <a:srgbClr val="1B2230"/>
                          </a:solidFill>
                          <a:latin typeface="Arial"/>
                        </a:rPr>
                        <a:t>346</a:t>
                      </a:r>
                    </a:p>
                  </a:txBody>
                  <a:tcPr anchor="ctr">
                    <a:solidFill>
                      <a:srgbClr val="E9E5DC"/>
                    </a:solidFill>
                  </a:tcPr>
                </a:tc>
                <a:tc>
                  <a:txBody>
                    <a:bodyPr/>
                    <a:lstStyle/>
                    <a:p>
                      <a:pPr algn="r"/>
                      <a:r>
                        <a:rPr sz="1200" b="0">
                          <a:solidFill>
                            <a:srgbClr val="1B2230"/>
                          </a:solidFill>
                          <a:latin typeface="Arial"/>
                        </a:rPr>
                        <a:t>2.9%</a:t>
                      </a:r>
                    </a:p>
                  </a:txBody>
                  <a:tcPr anchor="ctr">
                    <a:solidFill>
                      <a:srgbClr val="E9E5DC"/>
                    </a:solidFill>
                  </a:tcPr>
                </a:tc>
                <a:tc>
                  <a:txBody>
                    <a:bodyPr/>
                    <a:lstStyle/>
                    <a:p>
                      <a:pPr algn="l"/>
                      <a:r>
                        <a:rPr sz="1200" b="0">
                          <a:solidFill>
                            <a:srgbClr val="1B2230"/>
                          </a:solidFill>
                          <a:latin typeface="Arial"/>
                        </a:rPr>
                        <a:t>Reales</a:t>
                      </a:r>
                    </a:p>
                  </a:txBody>
                  <a:tcPr anchor="ctr">
                    <a:solidFill>
                      <a:srgbClr val="E9E5DC"/>
                    </a:solidFill>
                  </a:tcPr>
                </a:tc>
              </a:tr>
              <a:tr h="317500">
                <a:tc>
                  <a:txBody>
                    <a:bodyPr/>
                    <a:lstStyle/>
                    <a:p>
                      <a:pPr algn="l"/>
                      <a:r>
                        <a:rPr sz="1200" b="0">
                          <a:solidFill>
                            <a:srgbClr val="1B2230"/>
                          </a:solidFill>
                          <a:latin typeface="Arial"/>
                        </a:rPr>
                        <a:t>California</a:t>
                      </a:r>
                    </a:p>
                  </a:txBody>
                  <a:tcPr anchor="ctr">
                    <a:solidFill>
                      <a:srgbClr val="E9E5DC"/>
                    </a:solidFill>
                  </a:tcPr>
                </a:tc>
                <a:tc>
                  <a:txBody>
                    <a:bodyPr/>
                    <a:lstStyle/>
                    <a:p>
                      <a:pPr algn="r"/>
                      <a:r>
                        <a:rPr sz="1200" b="0">
                          <a:solidFill>
                            <a:srgbClr val="1B2230"/>
                          </a:solidFill>
                          <a:latin typeface="Arial"/>
                        </a:rPr>
                        <a:t>357</a:t>
                      </a:r>
                    </a:p>
                  </a:txBody>
                  <a:tcPr anchor="ctr">
                    <a:solidFill>
                      <a:srgbClr val="E9E5DC"/>
                    </a:solidFill>
                  </a:tcPr>
                </a:tc>
                <a:tc>
                  <a:txBody>
                    <a:bodyPr/>
                    <a:lstStyle/>
                    <a:p>
                      <a:pPr algn="r"/>
                      <a:r>
                        <a:rPr sz="1200" b="0">
                          <a:solidFill>
                            <a:srgbClr val="1B2230"/>
                          </a:solidFill>
                          <a:latin typeface="Arial"/>
                        </a:rPr>
                        <a:t>2.8%</a:t>
                      </a:r>
                    </a:p>
                  </a:txBody>
                  <a:tcPr anchor="ctr">
                    <a:solidFill>
                      <a:srgbClr val="E9E5DC"/>
                    </a:solidFill>
                  </a:tcPr>
                </a:tc>
                <a:tc>
                  <a:txBody>
                    <a:bodyPr/>
                    <a:lstStyle/>
                    <a:p>
                      <a:pPr algn="l"/>
                      <a:r>
                        <a:rPr sz="1200" b="0">
                          <a:solidFill>
                            <a:srgbClr val="1B2230"/>
                          </a:solidFill>
                          <a:latin typeface="Arial"/>
                        </a:rPr>
                        <a:t>Reales</a:t>
                      </a:r>
                    </a:p>
                  </a:txBody>
                  <a:tcPr anchor="ctr">
                    <a:solidFill>
                      <a:srgbClr val="E9E5DC"/>
                    </a:solidFill>
                  </a:tcPr>
                </a:tc>
              </a:tr>
            </a:tbl>
          </a:graphicData>
        </a:graphic>
      </p:graphicFrame>
      <p:sp>
        <p:nvSpPr>
          <p:cNvPr id="5" name="Rounded Rectangle 4"/>
          <p:cNvSpPr/>
          <p:nvPr/>
        </p:nvSpPr>
        <p:spPr>
          <a:xfrm>
            <a:off x="812800" y="4610100"/>
            <a:ext cx="6451600" cy="1206500"/>
          </a:xfrm>
          <a:prstGeom prst="roundRect">
            <a:avLst>
              <a:gd name="adj" fmla="val 8421"/>
            </a:avLst>
          </a:prstGeom>
          <a:solidFill>
            <a:srgbClr val="18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800" y="4864100"/>
            <a:ext cx="5943600" cy="698500"/>
          </a:xfrm>
          <a:prstGeom prst="rect">
            <a:avLst/>
          </a:prstGeom>
          <a:noFill/>
        </p:spPr>
        <p:txBody>
          <a:bodyPr wrap="square" lIns="0" rIns="0" tIns="0" bIns="0" anchor="t">
            <a:spAutoFit/>
          </a:bodyPr>
          <a:lstStyle/>
          <a:p>
            <a:pPr algn="l">
              <a:lnSpc>
                <a:spcPct val="135000"/>
              </a:lnSpc>
              <a:spcAft>
                <a:spcPts val="1000"/>
              </a:spcAft>
            </a:pPr>
            <a:r>
              <a:rPr sz="1300" b="0" i="0">
                <a:solidFill>
                  <a:srgbClr val="D7DBE1"/>
                </a:solidFill>
                <a:latin typeface="Arial"/>
              </a:rPr>
              <a:t>De acuerdo con Wainer (2007), las tasas de grupos pequeños varían mucho más: los valores extremos de un mapa suelen caer en las áreas más chicas.</a:t>
            </a:r>
          </a:p>
        </p:txBody>
      </p:sp>
      <p:sp>
        <p:nvSpPr>
          <p:cNvPr id="7" name="Rounded Rectangle 6"/>
          <p:cNvSpPr/>
          <p:nvPr/>
        </p:nvSpPr>
        <p:spPr>
          <a:xfrm>
            <a:off x="7569200" y="1879600"/>
            <a:ext cx="3810000" cy="2692400"/>
          </a:xfrm>
          <a:prstGeom prst="roundRect">
            <a:avLst>
              <a:gd name="adj" fmla="val 3773"/>
            </a:avLst>
          </a:prstGeom>
          <a:solidFill>
            <a:srgbClr val="FFFFFF"/>
          </a:solidFill>
          <a:ln w="9525">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02_dataset_map.png"/>
          <p:cNvPicPr>
            <a:picLocks noChangeAspect="1"/>
          </p:cNvPicPr>
          <p:nvPr/>
        </p:nvPicPr>
        <p:blipFill>
          <a:blip r:embed="rId3"/>
          <a:stretch>
            <a:fillRect/>
          </a:stretch>
        </p:blipFill>
        <p:spPr>
          <a:xfrm>
            <a:off x="7759700" y="1955800"/>
            <a:ext cx="3481036" cy="2540000"/>
          </a:xfrm>
          <a:prstGeom prst="rect">
            <a:avLst/>
          </a:prstGeom>
        </p:spPr>
      </p:pic>
      <p:sp>
        <p:nvSpPr>
          <p:cNvPr id="9" name="TextBox 8"/>
          <p:cNvSpPr txBox="1"/>
          <p:nvPr/>
        </p:nvSpPr>
        <p:spPr>
          <a:xfrm>
            <a:off x="7569200" y="4724400"/>
            <a:ext cx="3810000" cy="1079500"/>
          </a:xfrm>
          <a:prstGeom prst="rect">
            <a:avLst/>
          </a:prstGeom>
          <a:noFill/>
        </p:spPr>
        <p:txBody>
          <a:bodyPr wrap="square" lIns="0" rIns="0" tIns="0" bIns="0" anchor="t">
            <a:spAutoFit/>
          </a:bodyPr>
          <a:lstStyle/>
          <a:p>
            <a:pPr algn="l">
              <a:lnSpc>
                <a:spcPct val="130000"/>
              </a:lnSpc>
              <a:spcAft>
                <a:spcPts val="0"/>
              </a:spcAft>
            </a:pPr>
            <a:r>
              <a:rPr sz="1300" b="0" i="0">
                <a:solidFill>
                  <a:srgbClr val="4A5262"/>
                </a:solidFill>
                <a:latin typeface="Arial"/>
              </a:rPr>
              <a:t>Los </a:t>
            </a:r>
            <a:r>
              <a:rPr sz="1300" b="1" i="0">
                <a:solidFill>
                  <a:srgbClr val="4A5262"/>
                </a:solidFill>
                <a:latin typeface="Arial"/>
              </a:rPr>
              <a:t>12 estados</a:t>
            </a:r>
            <a:r>
              <a:rPr sz="1300" b="0" i="0">
                <a:solidFill>
                  <a:srgbClr val="4A5262"/>
                </a:solidFill>
                <a:latin typeface="Arial"/>
              </a:rPr>
              <a:t> con tasas más altas solo tienen filas sintéticas, agregadas para que el mapa cubriera todo el país. Sintéticas: 7.3% marcadas; reales: 2.0%.</a:t>
            </a:r>
          </a:p>
        </p:txBody>
      </p:sp>
      <p:sp>
        <p:nvSpPr>
          <p:cNvPr id="10" name="TextBox 9"/>
          <p:cNvSpPr txBox="1"/>
          <p:nvPr/>
        </p:nvSpPr>
        <p:spPr>
          <a:xfrm>
            <a:off x="812800" y="6223000"/>
            <a:ext cx="10566400" cy="228600"/>
          </a:xfrm>
          <a:prstGeom prst="rect">
            <a:avLst/>
          </a:prstGeom>
          <a:noFill/>
        </p:spPr>
        <p:txBody>
          <a:bodyPr wrap="square" lIns="0" rIns="0" tIns="0" bIns="0" anchor="t">
            <a:spAutoFit/>
          </a:bodyPr>
          <a:lstStyle/>
          <a:p>
            <a:pPr algn="l">
              <a:lnSpc>
                <a:spcPct val="125000"/>
              </a:lnSpc>
              <a:spcAft>
                <a:spcPts val="0"/>
              </a:spcAft>
            </a:pPr>
            <a:r>
              <a:rPr sz="1200" b="0" i="0">
                <a:solidFill>
                  <a:srgbClr val="6B7280"/>
                </a:solidFill>
                <a:latin typeface="Arial"/>
              </a:rPr>
              <a:t>Fuentes: resultados del modelo; Wainer, 2007 (American Scientist); Jordon et al., 2022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square" lIns="0" rIns="0" tIns="0" bIns="0" anchor="t">
            <a:spAutoFit/>
          </a:bodyPr>
          <a:lstStyle/>
          <a:p>
            <a:pPr algn="l">
              <a:lnSpc>
                <a:spcPct val="125000"/>
              </a:lnSpc>
              <a:spcAft>
                <a:spcPts val="0"/>
              </a:spcAft>
            </a:pPr>
            <a:r>
              <a:rPr sz="1200" b="1" i="0">
                <a:solidFill>
                  <a:srgbClr val="B5491F"/>
                </a:solidFill>
                <a:latin typeface="Arial"/>
              </a:rPr>
              <a:t>VARIABLES</a:t>
            </a:r>
          </a:p>
        </p:txBody>
      </p:sp>
      <p:sp>
        <p:nvSpPr>
          <p:cNvPr id="3" name="TextBox 2"/>
          <p:cNvSpPr txBox="1"/>
          <p:nvPr/>
        </p:nvSpPr>
        <p:spPr>
          <a:xfrm>
            <a:off x="812800" y="1079500"/>
            <a:ext cx="10566400" cy="571500"/>
          </a:xfrm>
          <a:prstGeom prst="rect">
            <a:avLst/>
          </a:prstGeom>
          <a:noFill/>
        </p:spPr>
        <p:txBody>
          <a:bodyPr wrap="square" lIns="0" rIns="0" tIns="0" bIns="0" anchor="t">
            <a:spAutoFit/>
          </a:bodyPr>
          <a:lstStyle/>
          <a:p>
            <a:pPr algn="l">
              <a:lnSpc>
                <a:spcPct val="110000"/>
              </a:lnSpc>
              <a:spcAft>
                <a:spcPts val="0"/>
              </a:spcAft>
            </a:pPr>
            <a:r>
              <a:rPr sz="3200" b="1" i="0">
                <a:solidFill>
                  <a:srgbClr val="1B2230"/>
                </a:solidFill>
                <a:latin typeface="Georgia"/>
              </a:rPr>
              <a:t>El monto es la señal más fuerte</a:t>
            </a:r>
          </a:p>
        </p:txBody>
      </p:sp>
      <p:sp>
        <p:nvSpPr>
          <p:cNvPr id="4" name="TextBox 3"/>
          <p:cNvSpPr txBox="1"/>
          <p:nvPr/>
        </p:nvSpPr>
        <p:spPr>
          <a:xfrm>
            <a:off x="812800" y="1879600"/>
            <a:ext cx="3556000" cy="698500"/>
          </a:xfrm>
          <a:prstGeom prst="rect">
            <a:avLst/>
          </a:prstGeom>
          <a:noFill/>
        </p:spPr>
        <p:txBody>
          <a:bodyPr wrap="square" lIns="0" rIns="0" tIns="0" bIns="0" anchor="t">
            <a:spAutoFit/>
          </a:bodyPr>
          <a:lstStyle/>
          <a:p>
            <a:pPr algn="l">
              <a:lnSpc>
                <a:spcPct val="125000"/>
              </a:lnSpc>
              <a:spcAft>
                <a:spcPts val="0"/>
              </a:spcAft>
            </a:pPr>
            <a:r>
              <a:rPr sz="4800" b="1" i="0">
                <a:solidFill>
                  <a:srgbClr val="B5491F"/>
                </a:solidFill>
                <a:latin typeface="Georgia"/>
              </a:rPr>
              <a:t>$878</a:t>
            </a:r>
          </a:p>
        </p:txBody>
      </p:sp>
      <p:sp>
        <p:nvSpPr>
          <p:cNvPr id="5" name="TextBox 4"/>
          <p:cNvSpPr txBox="1"/>
          <p:nvPr/>
        </p:nvSpPr>
        <p:spPr>
          <a:xfrm>
            <a:off x="812800" y="2794000"/>
            <a:ext cx="3556000" cy="508000"/>
          </a:xfrm>
          <a:prstGeom prst="rect">
            <a:avLst/>
          </a:prstGeom>
          <a:noFill/>
        </p:spPr>
        <p:txBody>
          <a:bodyPr wrap="square" lIns="0" rIns="0" tIns="0" bIns="0" anchor="t">
            <a:spAutoFit/>
          </a:bodyPr>
          <a:lstStyle/>
          <a:p>
            <a:pPr algn="l">
              <a:lnSpc>
                <a:spcPct val="125000"/>
              </a:lnSpc>
              <a:spcAft>
                <a:spcPts val="0"/>
              </a:spcAft>
            </a:pPr>
            <a:r>
              <a:rPr sz="1400" b="0" i="0">
                <a:solidFill>
                  <a:srgbClr val="4A5262"/>
                </a:solidFill>
                <a:latin typeface="Arial"/>
              </a:rPr>
              <a:t>monto promedio de las marcadas, contra </a:t>
            </a:r>
            <a:r>
              <a:rPr sz="1400" b="1" i="0">
                <a:solidFill>
                  <a:srgbClr val="4A5262"/>
                </a:solidFill>
                <a:latin typeface="Arial"/>
              </a:rPr>
              <a:t>$273</a:t>
            </a:r>
            <a:r>
              <a:rPr sz="1400" b="0" i="0">
                <a:solidFill>
                  <a:srgbClr val="4A5262"/>
                </a:solidFill>
                <a:latin typeface="Arial"/>
              </a:rPr>
              <a:t> de las normales</a:t>
            </a:r>
          </a:p>
        </p:txBody>
      </p:sp>
      <p:sp>
        <p:nvSpPr>
          <p:cNvPr id="6" name="Rounded Rectangle 5"/>
          <p:cNvSpPr/>
          <p:nvPr/>
        </p:nvSpPr>
        <p:spPr>
          <a:xfrm>
            <a:off x="812800" y="3556000"/>
            <a:ext cx="3556000" cy="2286000"/>
          </a:xfrm>
          <a:prstGeom prst="roundRect">
            <a:avLst>
              <a:gd name="adj" fmla="val 4444"/>
            </a:avLst>
          </a:prstGeom>
          <a:solidFill>
            <a:srgbClr val="18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6800" y="3810000"/>
            <a:ext cx="3048000" cy="1778000"/>
          </a:xfrm>
          <a:prstGeom prst="rect">
            <a:avLst/>
          </a:prstGeom>
          <a:noFill/>
        </p:spPr>
        <p:txBody>
          <a:bodyPr wrap="square" lIns="0" rIns="0" tIns="0" bIns="0" anchor="t">
            <a:spAutoFit/>
          </a:bodyPr>
          <a:lstStyle/>
          <a:p>
            <a:pPr algn="l">
              <a:lnSpc>
                <a:spcPct val="135000"/>
              </a:lnSpc>
              <a:spcAft>
                <a:spcPts val="1000"/>
              </a:spcAft>
            </a:pPr>
            <a:r>
              <a:rPr sz="1300" b="0" i="0">
                <a:solidFill>
                  <a:srgbClr val="D7DBE1"/>
                </a:solidFill>
                <a:latin typeface="Arial"/>
              </a:rPr>
              <a:t>Whitrow et al. (2009) mostraron que resumir el comportamiento reciente de cada cliente mejora la detección de fraude. Correa Bahnsen et al. (2016) compararon cada transacción con las anteriores del cliente, igual que nuestras variables de contexto.</a:t>
            </a:r>
          </a:p>
        </p:txBody>
      </p:sp>
      <p:sp>
        <p:nvSpPr>
          <p:cNvPr id="8" name="TextBox 7"/>
          <p:cNvSpPr txBox="1"/>
          <p:nvPr/>
        </p:nvSpPr>
        <p:spPr>
          <a:xfrm>
            <a:off x="4775200" y="1879600"/>
            <a:ext cx="6604000" cy="279400"/>
          </a:xfrm>
          <a:prstGeom prst="rect">
            <a:avLst/>
          </a:prstGeom>
          <a:noFill/>
        </p:spPr>
        <p:txBody>
          <a:bodyPr wrap="square" lIns="0" rIns="0" tIns="0" bIns="0" anchor="t">
            <a:spAutoFit/>
          </a:bodyPr>
          <a:lstStyle/>
          <a:p>
            <a:pPr algn="l">
              <a:lnSpc>
                <a:spcPct val="125000"/>
              </a:lnSpc>
              <a:spcAft>
                <a:spcPts val="0"/>
              </a:spcAft>
            </a:pPr>
            <a:r>
              <a:rPr sz="1600" b="1" i="0">
                <a:solidFill>
                  <a:srgbClr val="1B2230"/>
                </a:solidFill>
                <a:latin typeface="Arial"/>
              </a:rPr>
              <a:t>Diferencia entre marcadas y normales</a:t>
            </a:r>
          </a:p>
        </p:txBody>
      </p:sp>
      <p:sp>
        <p:nvSpPr>
          <p:cNvPr id="9" name="TextBox 8"/>
          <p:cNvSpPr txBox="1"/>
          <p:nvPr/>
        </p:nvSpPr>
        <p:spPr>
          <a:xfrm>
            <a:off x="4775200" y="2260600"/>
            <a:ext cx="57150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Monto de la transacción</a:t>
            </a:r>
          </a:p>
        </p:txBody>
      </p:sp>
      <p:sp>
        <p:nvSpPr>
          <p:cNvPr id="10" name="Rounded Rectangle 9"/>
          <p:cNvSpPr/>
          <p:nvPr/>
        </p:nvSpPr>
        <p:spPr>
          <a:xfrm>
            <a:off x="4775200" y="2501900"/>
            <a:ext cx="5461000" cy="177800"/>
          </a:xfrm>
          <a:prstGeom prst="roundRect">
            <a:avLst>
              <a:gd name="adj" fmla="val 14285"/>
            </a:avLst>
          </a:prstGeom>
          <a:solidFill>
            <a:srgbClr val="B54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7800" y="2476500"/>
            <a:ext cx="6350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1.94</a:t>
            </a:r>
          </a:p>
        </p:txBody>
      </p:sp>
      <p:sp>
        <p:nvSpPr>
          <p:cNvPr id="12" name="TextBox 11"/>
          <p:cNvSpPr txBox="1"/>
          <p:nvPr/>
        </p:nvSpPr>
        <p:spPr>
          <a:xfrm>
            <a:off x="4775200" y="2743200"/>
            <a:ext cx="57150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Monto vs. otras de la misma hora</a:t>
            </a:r>
          </a:p>
        </p:txBody>
      </p:sp>
      <p:sp>
        <p:nvSpPr>
          <p:cNvPr id="13" name="Rounded Rectangle 12"/>
          <p:cNvSpPr/>
          <p:nvPr/>
        </p:nvSpPr>
        <p:spPr>
          <a:xfrm>
            <a:off x="4775200" y="2984500"/>
            <a:ext cx="5435600" cy="177800"/>
          </a:xfrm>
          <a:prstGeom prst="roundRect">
            <a:avLst>
              <a:gd name="adj" fmla="val 14285"/>
            </a:avLst>
          </a:prstGeom>
          <a:solidFill>
            <a:srgbClr val="B54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12400" y="2959100"/>
            <a:ext cx="6350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1.93</a:t>
            </a:r>
          </a:p>
        </p:txBody>
      </p:sp>
      <p:sp>
        <p:nvSpPr>
          <p:cNvPr id="15" name="TextBox 14"/>
          <p:cNvSpPr txBox="1"/>
          <p:nvPr/>
        </p:nvSpPr>
        <p:spPr>
          <a:xfrm>
            <a:off x="4775200" y="3225800"/>
            <a:ext cx="57150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Monto vs. otras del mismo estado</a:t>
            </a:r>
          </a:p>
        </p:txBody>
      </p:sp>
      <p:sp>
        <p:nvSpPr>
          <p:cNvPr id="16" name="Rounded Rectangle 15"/>
          <p:cNvSpPr/>
          <p:nvPr/>
        </p:nvSpPr>
        <p:spPr>
          <a:xfrm>
            <a:off x="4775200" y="3467100"/>
            <a:ext cx="5403850" cy="177800"/>
          </a:xfrm>
          <a:prstGeom prst="roundRect">
            <a:avLst>
              <a:gd name="adj" fmla="val 14285"/>
            </a:avLst>
          </a:prstGeom>
          <a:solidFill>
            <a:srgbClr val="B54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80650" y="3441700"/>
            <a:ext cx="6350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1.92</a:t>
            </a:r>
          </a:p>
        </p:txBody>
      </p:sp>
      <p:sp>
        <p:nvSpPr>
          <p:cNvPr id="18" name="TextBox 17"/>
          <p:cNvSpPr txBox="1"/>
          <p:nvPr/>
        </p:nvSpPr>
        <p:spPr>
          <a:xfrm>
            <a:off x="4775200" y="3708400"/>
            <a:ext cx="57150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Monto vs. otras del mismo comercio</a:t>
            </a:r>
          </a:p>
        </p:txBody>
      </p:sp>
      <p:sp>
        <p:nvSpPr>
          <p:cNvPr id="19" name="Rounded Rectangle 18"/>
          <p:cNvSpPr/>
          <p:nvPr/>
        </p:nvSpPr>
        <p:spPr>
          <a:xfrm>
            <a:off x="4775200" y="3949700"/>
            <a:ext cx="5264150" cy="177800"/>
          </a:xfrm>
          <a:prstGeom prst="roundRect">
            <a:avLst>
              <a:gd name="adj" fmla="val 14285"/>
            </a:avLst>
          </a:prstGeom>
          <a:solidFill>
            <a:srgbClr val="B54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0950" y="3924300"/>
            <a:ext cx="6350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1.87</a:t>
            </a:r>
          </a:p>
        </p:txBody>
      </p:sp>
      <p:sp>
        <p:nvSpPr>
          <p:cNvPr id="21" name="TextBox 20"/>
          <p:cNvSpPr txBox="1"/>
          <p:nvPr/>
        </p:nvSpPr>
        <p:spPr>
          <a:xfrm>
            <a:off x="4775200" y="4191000"/>
            <a:ext cx="57150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Monto vs. saldo de la cuenta</a:t>
            </a:r>
          </a:p>
        </p:txBody>
      </p:sp>
      <p:sp>
        <p:nvSpPr>
          <p:cNvPr id="22" name="Rounded Rectangle 21"/>
          <p:cNvSpPr/>
          <p:nvPr/>
        </p:nvSpPr>
        <p:spPr>
          <a:xfrm>
            <a:off x="4775200" y="4432300"/>
            <a:ext cx="5149850" cy="177800"/>
          </a:xfrm>
          <a:prstGeom prst="roundRect">
            <a:avLst>
              <a:gd name="adj" fmla="val 14285"/>
            </a:avLst>
          </a:prstGeom>
          <a:solidFill>
            <a:srgbClr val="B54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26650" y="4406900"/>
            <a:ext cx="6350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1.83</a:t>
            </a:r>
          </a:p>
        </p:txBody>
      </p:sp>
      <p:sp>
        <p:nvSpPr>
          <p:cNvPr id="24" name="TextBox 23"/>
          <p:cNvSpPr txBox="1"/>
          <p:nvPr/>
        </p:nvSpPr>
        <p:spPr>
          <a:xfrm>
            <a:off x="4775200" y="4673600"/>
            <a:ext cx="57150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Fin de semana</a:t>
            </a:r>
          </a:p>
        </p:txBody>
      </p:sp>
      <p:sp>
        <p:nvSpPr>
          <p:cNvPr id="25" name="Rounded Rectangle 24"/>
          <p:cNvSpPr/>
          <p:nvPr/>
        </p:nvSpPr>
        <p:spPr>
          <a:xfrm>
            <a:off x="4775200" y="4914900"/>
            <a:ext cx="3632200" cy="177800"/>
          </a:xfrm>
          <a:prstGeom prst="roundRect">
            <a:avLst>
              <a:gd name="adj" fmla="val 14285"/>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9000" y="4889500"/>
            <a:ext cx="6350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1.29</a:t>
            </a:r>
          </a:p>
        </p:txBody>
      </p:sp>
      <p:sp>
        <p:nvSpPr>
          <p:cNvPr id="27" name="TextBox 26"/>
          <p:cNvSpPr txBox="1"/>
          <p:nvPr/>
        </p:nvSpPr>
        <p:spPr>
          <a:xfrm>
            <a:off x="4775200" y="5219700"/>
            <a:ext cx="6604000" cy="228600"/>
          </a:xfrm>
          <a:prstGeom prst="rect">
            <a:avLst/>
          </a:prstGeom>
          <a:noFill/>
        </p:spPr>
        <p:txBody>
          <a:bodyPr wrap="square" lIns="0" rIns="0" tIns="0" bIns="0" anchor="t">
            <a:spAutoFit/>
          </a:bodyPr>
          <a:lstStyle/>
          <a:p>
            <a:pPr algn="l">
              <a:lnSpc>
                <a:spcPct val="125000"/>
              </a:lnSpc>
              <a:spcAft>
                <a:spcPts val="0"/>
              </a:spcAft>
            </a:pPr>
            <a:r>
              <a:rPr sz="1200" b="0" i="0">
                <a:solidFill>
                  <a:srgbClr val="6B7280"/>
                </a:solidFill>
                <a:latin typeface="Arial"/>
              </a:rPr>
              <a:t>Diferencia de promedios, en desviaciones estándar (periodo de prueba)</a:t>
            </a:r>
          </a:p>
        </p:txBody>
      </p:sp>
      <p:sp>
        <p:nvSpPr>
          <p:cNvPr id="28" name="TextBox 27"/>
          <p:cNvSpPr txBox="1"/>
          <p:nvPr/>
        </p:nvSpPr>
        <p:spPr>
          <a:xfrm>
            <a:off x="812800" y="6223000"/>
            <a:ext cx="10566400" cy="228600"/>
          </a:xfrm>
          <a:prstGeom prst="rect">
            <a:avLst/>
          </a:prstGeom>
          <a:noFill/>
        </p:spPr>
        <p:txBody>
          <a:bodyPr wrap="square" lIns="0" rIns="0" tIns="0" bIns="0" anchor="t">
            <a:spAutoFit/>
          </a:bodyPr>
          <a:lstStyle/>
          <a:p>
            <a:pPr algn="l">
              <a:lnSpc>
                <a:spcPct val="125000"/>
              </a:lnSpc>
              <a:spcAft>
                <a:spcPts val="0"/>
              </a:spcAft>
            </a:pPr>
            <a:r>
              <a:rPr sz="1200" b="0" i="0">
                <a:solidFill>
                  <a:srgbClr val="6B7280"/>
                </a:solidFill>
                <a:latin typeface="Arial"/>
              </a:rPr>
              <a:t>Fuentes: resultados del modelo; Whitrow et al., 2009 (Data Min. Knowl. Discov.); Correa Bahnsen et al., 2016 (Expert Syst. Appl.)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square" lIns="0" rIns="0" tIns="0" bIns="0" anchor="t">
            <a:spAutoFit/>
          </a:bodyPr>
          <a:lstStyle/>
          <a:p>
            <a:pPr algn="l">
              <a:lnSpc>
                <a:spcPct val="125000"/>
              </a:lnSpc>
              <a:spcAft>
                <a:spcPts val="0"/>
              </a:spcAft>
            </a:pPr>
            <a:r>
              <a:rPr sz="1200" b="1" i="0">
                <a:solidFill>
                  <a:srgbClr val="B5491F"/>
                </a:solidFill>
                <a:latin typeface="Arial"/>
              </a:rPr>
              <a:t>VARIABLES</a:t>
            </a:r>
          </a:p>
        </p:txBody>
      </p:sp>
      <p:sp>
        <p:nvSpPr>
          <p:cNvPr id="3" name="TextBox 2"/>
          <p:cNvSpPr txBox="1"/>
          <p:nvPr/>
        </p:nvSpPr>
        <p:spPr>
          <a:xfrm>
            <a:off x="812800" y="1079500"/>
            <a:ext cx="10566400" cy="571500"/>
          </a:xfrm>
          <a:prstGeom prst="rect">
            <a:avLst/>
          </a:prstGeom>
          <a:noFill/>
        </p:spPr>
        <p:txBody>
          <a:bodyPr wrap="square" lIns="0" rIns="0" tIns="0" bIns="0" anchor="t">
            <a:spAutoFit/>
          </a:bodyPr>
          <a:lstStyle/>
          <a:p>
            <a:pPr algn="l">
              <a:lnSpc>
                <a:spcPct val="110000"/>
              </a:lnSpc>
              <a:spcAft>
                <a:spcPts val="0"/>
              </a:spcAft>
            </a:pPr>
            <a:r>
              <a:rPr sz="3200" b="1" i="0">
                <a:solidFill>
                  <a:srgbClr val="1B2230"/>
                </a:solidFill>
                <a:latin typeface="Georgia"/>
              </a:rPr>
              <a:t>Las 10 variables con más peso en el modelo</a:t>
            </a:r>
          </a:p>
        </p:txBody>
      </p:sp>
      <p:sp>
        <p:nvSpPr>
          <p:cNvPr id="4" name="TextBox 3"/>
          <p:cNvSpPr txBox="1"/>
          <p:nvPr/>
        </p:nvSpPr>
        <p:spPr>
          <a:xfrm>
            <a:off x="812800" y="1905000"/>
            <a:ext cx="29845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Mes</a:t>
            </a:r>
          </a:p>
        </p:txBody>
      </p:sp>
      <p:sp>
        <p:nvSpPr>
          <p:cNvPr id="5" name="Rounded Rectangle 4"/>
          <p:cNvSpPr/>
          <p:nvPr/>
        </p:nvSpPr>
        <p:spPr>
          <a:xfrm>
            <a:off x="3924300" y="1924050"/>
            <a:ext cx="3175000" cy="190500"/>
          </a:xfrm>
          <a:prstGeom prst="roundRect">
            <a:avLst>
              <a:gd name="adj" fmla="val 13333"/>
            </a:avLst>
          </a:prstGeom>
          <a:solidFill>
            <a:srgbClr val="2F3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6300" y="1905000"/>
            <a:ext cx="6350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0.147</a:t>
            </a:r>
          </a:p>
        </p:txBody>
      </p:sp>
      <p:sp>
        <p:nvSpPr>
          <p:cNvPr id="7" name="TextBox 6"/>
          <p:cNvSpPr txBox="1"/>
          <p:nvPr/>
        </p:nvSpPr>
        <p:spPr>
          <a:xfrm>
            <a:off x="812800" y="2197100"/>
            <a:ext cx="29845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Estado: Texas</a:t>
            </a:r>
          </a:p>
        </p:txBody>
      </p:sp>
      <p:sp>
        <p:nvSpPr>
          <p:cNvPr id="8" name="Rounded Rectangle 7"/>
          <p:cNvSpPr/>
          <p:nvPr/>
        </p:nvSpPr>
        <p:spPr>
          <a:xfrm>
            <a:off x="3924300" y="2216150"/>
            <a:ext cx="3086100" cy="190500"/>
          </a:xfrm>
          <a:prstGeom prst="roundRect">
            <a:avLst>
              <a:gd name="adj" fmla="val 13333"/>
            </a:avLst>
          </a:prstGeom>
          <a:solidFill>
            <a:srgbClr val="2F3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7400" y="2197100"/>
            <a:ext cx="6350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0.143</a:t>
            </a:r>
          </a:p>
        </p:txBody>
      </p:sp>
      <p:sp>
        <p:nvSpPr>
          <p:cNvPr id="10" name="TextBox 9"/>
          <p:cNvSpPr txBox="1"/>
          <p:nvPr/>
        </p:nvSpPr>
        <p:spPr>
          <a:xfrm>
            <a:off x="812800" y="2489200"/>
            <a:ext cx="29845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Tipo: débito</a:t>
            </a:r>
          </a:p>
        </p:txBody>
      </p:sp>
      <p:sp>
        <p:nvSpPr>
          <p:cNvPr id="11" name="Rounded Rectangle 10"/>
          <p:cNvSpPr/>
          <p:nvPr/>
        </p:nvSpPr>
        <p:spPr>
          <a:xfrm>
            <a:off x="3924300" y="2508250"/>
            <a:ext cx="2806700" cy="190500"/>
          </a:xfrm>
          <a:prstGeom prst="roundRect">
            <a:avLst>
              <a:gd name="adj" fmla="val 13333"/>
            </a:avLst>
          </a:prstGeom>
          <a:solidFill>
            <a:srgbClr val="2F3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2489200"/>
            <a:ext cx="6350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0.130</a:t>
            </a:r>
          </a:p>
        </p:txBody>
      </p:sp>
      <p:sp>
        <p:nvSpPr>
          <p:cNvPr id="13" name="TextBox 12"/>
          <p:cNvSpPr txBox="1"/>
          <p:nvPr/>
        </p:nvSpPr>
        <p:spPr>
          <a:xfrm>
            <a:off x="812800" y="2781300"/>
            <a:ext cx="2984500" cy="228600"/>
          </a:xfrm>
          <a:prstGeom prst="rect">
            <a:avLst/>
          </a:prstGeom>
          <a:noFill/>
        </p:spPr>
        <p:txBody>
          <a:bodyPr wrap="square" lIns="0" rIns="0" tIns="0" bIns="0" anchor="t">
            <a:spAutoFit/>
          </a:bodyPr>
          <a:lstStyle/>
          <a:p>
            <a:pPr algn="l">
              <a:lnSpc>
                <a:spcPct val="125000"/>
              </a:lnSpc>
              <a:spcAft>
                <a:spcPts val="0"/>
              </a:spcAft>
            </a:pPr>
            <a:r>
              <a:rPr sz="1300" b="1" i="0">
                <a:solidFill>
                  <a:srgbClr val="1B2230"/>
                </a:solidFill>
                <a:latin typeface="Arial"/>
              </a:rPr>
              <a:t>Monto vs. historial de la cuenta</a:t>
            </a:r>
          </a:p>
        </p:txBody>
      </p:sp>
      <p:sp>
        <p:nvSpPr>
          <p:cNvPr id="14" name="Rounded Rectangle 13"/>
          <p:cNvSpPr/>
          <p:nvPr/>
        </p:nvSpPr>
        <p:spPr>
          <a:xfrm>
            <a:off x="3924300" y="2800350"/>
            <a:ext cx="2438400" cy="190500"/>
          </a:xfrm>
          <a:prstGeom prst="roundRect">
            <a:avLst>
              <a:gd name="adj" fmla="val 13333"/>
            </a:avLst>
          </a:prstGeom>
          <a:solidFill>
            <a:srgbClr val="B54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9700" y="2781300"/>
            <a:ext cx="6350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0.113</a:t>
            </a:r>
          </a:p>
        </p:txBody>
      </p:sp>
      <p:sp>
        <p:nvSpPr>
          <p:cNvPr id="16" name="TextBox 15"/>
          <p:cNvSpPr txBox="1"/>
          <p:nvPr/>
        </p:nvSpPr>
        <p:spPr>
          <a:xfrm>
            <a:off x="812800" y="3073400"/>
            <a:ext cx="29845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Estado: California</a:t>
            </a:r>
          </a:p>
        </p:txBody>
      </p:sp>
      <p:sp>
        <p:nvSpPr>
          <p:cNvPr id="17" name="Rounded Rectangle 16"/>
          <p:cNvSpPr/>
          <p:nvPr/>
        </p:nvSpPr>
        <p:spPr>
          <a:xfrm>
            <a:off x="3924300" y="3092450"/>
            <a:ext cx="2438400" cy="190500"/>
          </a:xfrm>
          <a:prstGeom prst="roundRect">
            <a:avLst>
              <a:gd name="adj" fmla="val 13333"/>
            </a:avLst>
          </a:prstGeom>
          <a:solidFill>
            <a:srgbClr val="2F3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9700" y="3073400"/>
            <a:ext cx="6350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0.113</a:t>
            </a:r>
          </a:p>
        </p:txBody>
      </p:sp>
      <p:sp>
        <p:nvSpPr>
          <p:cNvPr id="19" name="TextBox 18"/>
          <p:cNvSpPr txBox="1"/>
          <p:nvPr/>
        </p:nvSpPr>
        <p:spPr>
          <a:xfrm>
            <a:off x="812800" y="3365500"/>
            <a:ext cx="29845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Ocupación: estudiante</a:t>
            </a:r>
          </a:p>
        </p:txBody>
      </p:sp>
      <p:sp>
        <p:nvSpPr>
          <p:cNvPr id="20" name="Rounded Rectangle 19"/>
          <p:cNvSpPr/>
          <p:nvPr/>
        </p:nvSpPr>
        <p:spPr>
          <a:xfrm>
            <a:off x="3924300" y="3384550"/>
            <a:ext cx="1968500" cy="190500"/>
          </a:xfrm>
          <a:prstGeom prst="roundRect">
            <a:avLst>
              <a:gd name="adj" fmla="val 13333"/>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19800" y="3365500"/>
            <a:ext cx="6350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0.091</a:t>
            </a:r>
          </a:p>
        </p:txBody>
      </p:sp>
      <p:sp>
        <p:nvSpPr>
          <p:cNvPr id="22" name="TextBox 21"/>
          <p:cNvSpPr txBox="1"/>
          <p:nvPr/>
        </p:nvSpPr>
        <p:spPr>
          <a:xfrm>
            <a:off x="812800" y="3657600"/>
            <a:ext cx="29845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Ocupación: jubilado</a:t>
            </a:r>
          </a:p>
        </p:txBody>
      </p:sp>
      <p:sp>
        <p:nvSpPr>
          <p:cNvPr id="23" name="Rounded Rectangle 22"/>
          <p:cNvSpPr/>
          <p:nvPr/>
        </p:nvSpPr>
        <p:spPr>
          <a:xfrm>
            <a:off x="3924300" y="3676650"/>
            <a:ext cx="1835150" cy="190500"/>
          </a:xfrm>
          <a:prstGeom prst="roundRect">
            <a:avLst>
              <a:gd name="adj" fmla="val 13333"/>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86450" y="3657600"/>
            <a:ext cx="6350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0.085</a:t>
            </a:r>
          </a:p>
        </p:txBody>
      </p:sp>
      <p:sp>
        <p:nvSpPr>
          <p:cNvPr id="25" name="TextBox 24"/>
          <p:cNvSpPr txBox="1"/>
          <p:nvPr/>
        </p:nvSpPr>
        <p:spPr>
          <a:xfrm>
            <a:off x="812800" y="3949700"/>
            <a:ext cx="29845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Ocupación: ingeniero</a:t>
            </a:r>
          </a:p>
        </p:txBody>
      </p:sp>
      <p:sp>
        <p:nvSpPr>
          <p:cNvPr id="26" name="Rounded Rectangle 25"/>
          <p:cNvSpPr/>
          <p:nvPr/>
        </p:nvSpPr>
        <p:spPr>
          <a:xfrm>
            <a:off x="3924300" y="3968750"/>
            <a:ext cx="1790700" cy="190500"/>
          </a:xfrm>
          <a:prstGeom prst="roundRect">
            <a:avLst>
              <a:gd name="adj" fmla="val 13333"/>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42000" y="3949700"/>
            <a:ext cx="6350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0.083</a:t>
            </a:r>
          </a:p>
        </p:txBody>
      </p:sp>
      <p:sp>
        <p:nvSpPr>
          <p:cNvPr id="28" name="TextBox 27"/>
          <p:cNvSpPr txBox="1"/>
          <p:nvPr/>
        </p:nvSpPr>
        <p:spPr>
          <a:xfrm>
            <a:off x="812800" y="4241800"/>
            <a:ext cx="29845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Frecuencia del estado</a:t>
            </a:r>
          </a:p>
        </p:txBody>
      </p:sp>
      <p:sp>
        <p:nvSpPr>
          <p:cNvPr id="29" name="Rounded Rectangle 28"/>
          <p:cNvSpPr/>
          <p:nvPr/>
        </p:nvSpPr>
        <p:spPr>
          <a:xfrm>
            <a:off x="3924300" y="4260850"/>
            <a:ext cx="1790700" cy="190500"/>
          </a:xfrm>
          <a:prstGeom prst="roundRect">
            <a:avLst>
              <a:gd name="adj" fmla="val 13333"/>
            </a:avLst>
          </a:prstGeom>
          <a:solidFill>
            <a:srgbClr val="2F3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42000" y="4241800"/>
            <a:ext cx="6350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0.083</a:t>
            </a:r>
          </a:p>
        </p:txBody>
      </p:sp>
      <p:sp>
        <p:nvSpPr>
          <p:cNvPr id="31" name="TextBox 30"/>
          <p:cNvSpPr txBox="1"/>
          <p:nvPr/>
        </p:nvSpPr>
        <p:spPr>
          <a:xfrm>
            <a:off x="812800" y="4533900"/>
            <a:ext cx="29845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Estado: Arizona</a:t>
            </a:r>
          </a:p>
        </p:txBody>
      </p:sp>
      <p:sp>
        <p:nvSpPr>
          <p:cNvPr id="32" name="Rounded Rectangle 31"/>
          <p:cNvSpPr/>
          <p:nvPr/>
        </p:nvSpPr>
        <p:spPr>
          <a:xfrm>
            <a:off x="3924300" y="4552950"/>
            <a:ext cx="1752600" cy="190500"/>
          </a:xfrm>
          <a:prstGeom prst="roundRect">
            <a:avLst>
              <a:gd name="adj" fmla="val 13333"/>
            </a:avLst>
          </a:prstGeom>
          <a:solidFill>
            <a:srgbClr val="2F3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803900" y="4533900"/>
            <a:ext cx="635000" cy="228600"/>
          </a:xfrm>
          <a:prstGeom prst="rect">
            <a:avLst/>
          </a:prstGeom>
          <a:noFill/>
        </p:spPr>
        <p:txBody>
          <a:bodyPr wrap="square" lIns="0" rIns="0" tIns="0" bIns="0" anchor="t">
            <a:spAutoFit/>
          </a:bodyPr>
          <a:lstStyle/>
          <a:p>
            <a:pPr algn="l">
              <a:lnSpc>
                <a:spcPct val="125000"/>
              </a:lnSpc>
              <a:spcAft>
                <a:spcPts val="0"/>
              </a:spcAft>
            </a:pPr>
            <a:r>
              <a:rPr sz="1300" b="0" i="0">
                <a:solidFill>
                  <a:srgbClr val="1B2230"/>
                </a:solidFill>
                <a:latin typeface="Arial"/>
              </a:rPr>
              <a:t>0.081</a:t>
            </a:r>
          </a:p>
        </p:txBody>
      </p:sp>
      <p:sp>
        <p:nvSpPr>
          <p:cNvPr id="34" name="TextBox 33"/>
          <p:cNvSpPr txBox="1"/>
          <p:nvPr/>
        </p:nvSpPr>
        <p:spPr>
          <a:xfrm>
            <a:off x="812800" y="4889500"/>
            <a:ext cx="7112000" cy="444500"/>
          </a:xfrm>
          <a:prstGeom prst="rect">
            <a:avLst/>
          </a:prstGeom>
          <a:noFill/>
        </p:spPr>
        <p:txBody>
          <a:bodyPr wrap="square" lIns="0" rIns="0" tIns="0" bIns="0" anchor="t">
            <a:spAutoFit/>
          </a:bodyPr>
          <a:lstStyle/>
          <a:p>
            <a:pPr algn="l">
              <a:lnSpc>
                <a:spcPct val="125000"/>
              </a:lnSpc>
              <a:spcAft>
                <a:spcPts val="0"/>
              </a:spcAft>
            </a:pPr>
            <a:r>
              <a:rPr sz="1200" b="0" i="0">
                <a:solidFill>
                  <a:srgbClr val="6B7280"/>
                </a:solidFill>
                <a:latin typeface="Arial"/>
              </a:rPr>
              <a:t>Promedio del valor SHAP absoluto · oscuro: tiempo, ubicación y tipo · naranja: monto · gris: perfil</a:t>
            </a:r>
          </a:p>
        </p:txBody>
      </p:sp>
      <p:sp>
        <p:nvSpPr>
          <p:cNvPr id="35" name="Rounded Rectangle 34"/>
          <p:cNvSpPr/>
          <p:nvPr/>
        </p:nvSpPr>
        <p:spPr>
          <a:xfrm>
            <a:off x="8331200" y="1905000"/>
            <a:ext cx="3048000" cy="3937000"/>
          </a:xfrm>
          <a:prstGeom prst="roundRect">
            <a:avLst>
              <a:gd name="adj" fmla="val 3333"/>
            </a:avLst>
          </a:prstGeom>
          <a:solidFill>
            <a:srgbClr val="18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85200" y="2159000"/>
            <a:ext cx="2540000" cy="3429000"/>
          </a:xfrm>
          <a:prstGeom prst="rect">
            <a:avLst/>
          </a:prstGeom>
          <a:noFill/>
        </p:spPr>
        <p:txBody>
          <a:bodyPr wrap="square" lIns="0" rIns="0" tIns="0" bIns="0" anchor="t">
            <a:spAutoFit/>
          </a:bodyPr>
          <a:lstStyle/>
          <a:p>
            <a:pPr algn="l">
              <a:lnSpc>
                <a:spcPct val="135000"/>
              </a:lnSpc>
              <a:spcAft>
                <a:spcPts val="1000"/>
              </a:spcAft>
            </a:pPr>
            <a:r>
              <a:rPr sz="1300" b="0" i="0">
                <a:solidFill>
                  <a:srgbClr val="D7DBE1"/>
                </a:solidFill>
                <a:latin typeface="Arial"/>
              </a:rPr>
              <a:t>SHAP (Lundberg y Lee, 2017) reparte el puntaje del modelo entre sus variables; su versión para árboles (Lundberg et al., 2020) lo calcula con eficiencia.</a:t>
            </a:r>
          </a:p>
          <a:p>
            <a:pPr algn="l">
              <a:lnSpc>
                <a:spcPct val="135000"/>
              </a:lnSpc>
              <a:spcAft>
                <a:spcPts val="1000"/>
              </a:spcAft>
            </a:pPr>
            <a:r>
              <a:rPr sz="1300" b="1" i="0">
                <a:solidFill>
                  <a:srgbClr val="D7DBE1"/>
                </a:solidFill>
                <a:latin typeface="Arial"/>
              </a:rPr>
              <a:t>Ninguna variable domina</a:t>
            </a:r>
            <a:r>
              <a:rPr sz="1300" b="0" i="0">
                <a:solidFill>
                  <a:srgbClr val="D7DBE1"/>
                </a:solidFill>
                <a:latin typeface="Arial"/>
              </a:rPr>
              <a:t>: la más alta pesa 0.147 y el peso se reparte entre cinco tipos.</a:t>
            </a:r>
          </a:p>
          <a:p>
            <a:pPr algn="l">
              <a:lnSpc>
                <a:spcPct val="135000"/>
              </a:lnSpc>
              <a:spcAft>
                <a:spcPts val="1000"/>
              </a:spcAft>
            </a:pPr>
            <a:r>
              <a:rPr sz="1300" b="0" i="0">
                <a:solidFill>
                  <a:srgbClr val="D7DBE1"/>
                </a:solidFill>
                <a:latin typeface="Arial"/>
              </a:rPr>
              <a:t>El mes va primero porque los meses de prueba vienen después de los de entrenamiento.</a:t>
            </a:r>
          </a:p>
        </p:txBody>
      </p:sp>
      <p:sp>
        <p:nvSpPr>
          <p:cNvPr id="37" name="TextBox 36"/>
          <p:cNvSpPr txBox="1"/>
          <p:nvPr/>
        </p:nvSpPr>
        <p:spPr>
          <a:xfrm>
            <a:off x="812800" y="6223000"/>
            <a:ext cx="10566400" cy="228600"/>
          </a:xfrm>
          <a:prstGeom prst="rect">
            <a:avLst/>
          </a:prstGeom>
          <a:noFill/>
        </p:spPr>
        <p:txBody>
          <a:bodyPr wrap="square" lIns="0" rIns="0" tIns="0" bIns="0" anchor="t">
            <a:spAutoFit/>
          </a:bodyPr>
          <a:lstStyle/>
          <a:p>
            <a:pPr algn="l">
              <a:lnSpc>
                <a:spcPct val="125000"/>
              </a:lnSpc>
              <a:spcAft>
                <a:spcPts val="0"/>
              </a:spcAft>
            </a:pPr>
            <a:r>
              <a:rPr sz="1200" b="0" i="0">
                <a:solidFill>
                  <a:srgbClr val="6B7280"/>
                </a:solidFill>
                <a:latin typeface="Arial"/>
              </a:rPr>
              <a:t>Fuentes: resultados del modelo (SHAP sobre 560 transacciones de prueba); Lundberg y Lee, 2017; Lundberg et al., 2020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square" lIns="0" rIns="0" tIns="0" bIns="0" anchor="t">
            <a:spAutoFit/>
          </a:bodyPr>
          <a:lstStyle/>
          <a:p>
            <a:pPr algn="l">
              <a:lnSpc>
                <a:spcPct val="125000"/>
              </a:lnSpc>
              <a:spcAft>
                <a:spcPts val="0"/>
              </a:spcAft>
            </a:pPr>
            <a:r>
              <a:rPr sz="1200" b="1" i="0">
                <a:solidFill>
                  <a:srgbClr val="B5491F"/>
                </a:solidFill>
                <a:latin typeface="Arial"/>
              </a:rPr>
              <a:t>CAMBIO EN EL TIEMPO</a:t>
            </a:r>
          </a:p>
        </p:txBody>
      </p:sp>
      <p:sp>
        <p:nvSpPr>
          <p:cNvPr id="3" name="TextBox 2"/>
          <p:cNvSpPr txBox="1"/>
          <p:nvPr/>
        </p:nvSpPr>
        <p:spPr>
          <a:xfrm>
            <a:off x="812800" y="1079500"/>
            <a:ext cx="10566400" cy="571500"/>
          </a:xfrm>
          <a:prstGeom prst="rect">
            <a:avLst/>
          </a:prstGeom>
          <a:noFill/>
        </p:spPr>
        <p:txBody>
          <a:bodyPr wrap="square" lIns="0" rIns="0" tIns="0" bIns="0" anchor="t">
            <a:spAutoFit/>
          </a:bodyPr>
          <a:lstStyle/>
          <a:p>
            <a:pPr algn="l">
              <a:lnSpc>
                <a:spcPct val="110000"/>
              </a:lnSpc>
              <a:spcAft>
                <a:spcPts val="0"/>
              </a:spcAft>
            </a:pPr>
            <a:r>
              <a:rPr sz="3200" b="1" i="0">
                <a:solidFill>
                  <a:srgbClr val="1B2230"/>
                </a:solidFill>
                <a:latin typeface="Georgia"/>
              </a:rPr>
              <a:t>Desde agosto, cada mes se marca más</a:t>
            </a:r>
          </a:p>
        </p:txBody>
      </p:sp>
      <p:sp>
        <p:nvSpPr>
          <p:cNvPr id="4" name="Rounded Rectangle 3"/>
          <p:cNvSpPr/>
          <p:nvPr/>
        </p:nvSpPr>
        <p:spPr>
          <a:xfrm>
            <a:off x="812800" y="3930650"/>
            <a:ext cx="473075" cy="641350"/>
          </a:xfrm>
          <a:prstGeom prst="roundRect">
            <a:avLst>
              <a:gd name="adj" fmla="val 4026"/>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4648200"/>
            <a:ext cx="473075" cy="215900"/>
          </a:xfrm>
          <a:prstGeom prst="rect">
            <a:avLst/>
          </a:prstGeom>
          <a:noFill/>
        </p:spPr>
        <p:txBody>
          <a:bodyPr wrap="square" lIns="0" rIns="0" tIns="0" bIns="0" anchor="t">
            <a:spAutoFit/>
          </a:bodyPr>
          <a:lstStyle/>
          <a:p>
            <a:pPr algn="ctr">
              <a:lnSpc>
                <a:spcPct val="125000"/>
              </a:lnSpc>
              <a:spcAft>
                <a:spcPts val="0"/>
              </a:spcAft>
            </a:pPr>
            <a:r>
              <a:rPr sz="1200" b="0" i="0">
                <a:solidFill>
                  <a:srgbClr val="4A5262"/>
                </a:solidFill>
                <a:latin typeface="Arial"/>
              </a:rPr>
              <a:t>E</a:t>
            </a:r>
          </a:p>
        </p:txBody>
      </p:sp>
      <p:sp>
        <p:nvSpPr>
          <p:cNvPr id="6" name="Rounded Rectangle 5"/>
          <p:cNvSpPr/>
          <p:nvPr/>
        </p:nvSpPr>
        <p:spPr>
          <a:xfrm>
            <a:off x="1374775" y="3981450"/>
            <a:ext cx="473075" cy="590550"/>
          </a:xfrm>
          <a:prstGeom prst="roundRect">
            <a:avLst>
              <a:gd name="adj" fmla="val 4026"/>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4775" y="4648200"/>
            <a:ext cx="473075" cy="215900"/>
          </a:xfrm>
          <a:prstGeom prst="rect">
            <a:avLst/>
          </a:prstGeom>
          <a:noFill/>
        </p:spPr>
        <p:txBody>
          <a:bodyPr wrap="square" lIns="0" rIns="0" tIns="0" bIns="0" anchor="t">
            <a:spAutoFit/>
          </a:bodyPr>
          <a:lstStyle/>
          <a:p>
            <a:pPr algn="ctr">
              <a:lnSpc>
                <a:spcPct val="125000"/>
              </a:lnSpc>
              <a:spcAft>
                <a:spcPts val="0"/>
              </a:spcAft>
            </a:pPr>
            <a:r>
              <a:rPr sz="1200" b="0" i="0">
                <a:solidFill>
                  <a:srgbClr val="4A5262"/>
                </a:solidFill>
                <a:latin typeface="Arial"/>
              </a:rPr>
              <a:t>F</a:t>
            </a:r>
          </a:p>
        </p:txBody>
      </p:sp>
      <p:sp>
        <p:nvSpPr>
          <p:cNvPr id="8" name="Rounded Rectangle 7"/>
          <p:cNvSpPr/>
          <p:nvPr/>
        </p:nvSpPr>
        <p:spPr>
          <a:xfrm>
            <a:off x="1936750" y="3924300"/>
            <a:ext cx="473075" cy="647700"/>
          </a:xfrm>
          <a:prstGeom prst="roundRect">
            <a:avLst>
              <a:gd name="adj" fmla="val 4026"/>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36750" y="4648200"/>
            <a:ext cx="473075" cy="215900"/>
          </a:xfrm>
          <a:prstGeom prst="rect">
            <a:avLst/>
          </a:prstGeom>
          <a:noFill/>
        </p:spPr>
        <p:txBody>
          <a:bodyPr wrap="square" lIns="0" rIns="0" tIns="0" bIns="0" anchor="t">
            <a:spAutoFit/>
          </a:bodyPr>
          <a:lstStyle/>
          <a:p>
            <a:pPr algn="ctr">
              <a:lnSpc>
                <a:spcPct val="125000"/>
              </a:lnSpc>
              <a:spcAft>
                <a:spcPts val="0"/>
              </a:spcAft>
            </a:pPr>
            <a:r>
              <a:rPr sz="1200" b="0" i="0">
                <a:solidFill>
                  <a:srgbClr val="4A5262"/>
                </a:solidFill>
                <a:latin typeface="Arial"/>
              </a:rPr>
              <a:t>M</a:t>
            </a:r>
          </a:p>
        </p:txBody>
      </p:sp>
      <p:sp>
        <p:nvSpPr>
          <p:cNvPr id="10" name="Rounded Rectangle 9"/>
          <p:cNvSpPr/>
          <p:nvPr/>
        </p:nvSpPr>
        <p:spPr>
          <a:xfrm>
            <a:off x="2498725" y="3917950"/>
            <a:ext cx="473075" cy="654050"/>
          </a:xfrm>
          <a:prstGeom prst="roundRect">
            <a:avLst>
              <a:gd name="adj" fmla="val 4026"/>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98725" y="4648200"/>
            <a:ext cx="473075" cy="215900"/>
          </a:xfrm>
          <a:prstGeom prst="rect">
            <a:avLst/>
          </a:prstGeom>
          <a:noFill/>
        </p:spPr>
        <p:txBody>
          <a:bodyPr wrap="square" lIns="0" rIns="0" tIns="0" bIns="0" anchor="t">
            <a:spAutoFit/>
          </a:bodyPr>
          <a:lstStyle/>
          <a:p>
            <a:pPr algn="ctr">
              <a:lnSpc>
                <a:spcPct val="125000"/>
              </a:lnSpc>
              <a:spcAft>
                <a:spcPts val="0"/>
              </a:spcAft>
            </a:pPr>
            <a:r>
              <a:rPr sz="1200" b="0" i="0">
                <a:solidFill>
                  <a:srgbClr val="4A5262"/>
                </a:solidFill>
                <a:latin typeface="Arial"/>
              </a:rPr>
              <a:t>A</a:t>
            </a:r>
          </a:p>
        </p:txBody>
      </p:sp>
      <p:sp>
        <p:nvSpPr>
          <p:cNvPr id="12" name="Rounded Rectangle 11"/>
          <p:cNvSpPr/>
          <p:nvPr/>
        </p:nvSpPr>
        <p:spPr>
          <a:xfrm>
            <a:off x="3060700" y="3981450"/>
            <a:ext cx="473075" cy="590550"/>
          </a:xfrm>
          <a:prstGeom prst="roundRect">
            <a:avLst>
              <a:gd name="adj" fmla="val 4026"/>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60700" y="4648200"/>
            <a:ext cx="473075" cy="215900"/>
          </a:xfrm>
          <a:prstGeom prst="rect">
            <a:avLst/>
          </a:prstGeom>
          <a:noFill/>
        </p:spPr>
        <p:txBody>
          <a:bodyPr wrap="square" lIns="0" rIns="0" tIns="0" bIns="0" anchor="t">
            <a:spAutoFit/>
          </a:bodyPr>
          <a:lstStyle/>
          <a:p>
            <a:pPr algn="ctr">
              <a:lnSpc>
                <a:spcPct val="125000"/>
              </a:lnSpc>
              <a:spcAft>
                <a:spcPts val="0"/>
              </a:spcAft>
            </a:pPr>
            <a:r>
              <a:rPr sz="1200" b="0" i="0">
                <a:solidFill>
                  <a:srgbClr val="4A5262"/>
                </a:solidFill>
                <a:latin typeface="Arial"/>
              </a:rPr>
              <a:t>M</a:t>
            </a:r>
          </a:p>
        </p:txBody>
      </p:sp>
      <p:sp>
        <p:nvSpPr>
          <p:cNvPr id="14" name="Rounded Rectangle 13"/>
          <p:cNvSpPr/>
          <p:nvPr/>
        </p:nvSpPr>
        <p:spPr>
          <a:xfrm>
            <a:off x="3622675" y="3968750"/>
            <a:ext cx="473075" cy="603250"/>
          </a:xfrm>
          <a:prstGeom prst="roundRect">
            <a:avLst>
              <a:gd name="adj" fmla="val 4026"/>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2675" y="4648200"/>
            <a:ext cx="473075" cy="215900"/>
          </a:xfrm>
          <a:prstGeom prst="rect">
            <a:avLst/>
          </a:prstGeom>
          <a:noFill/>
        </p:spPr>
        <p:txBody>
          <a:bodyPr wrap="square" lIns="0" rIns="0" tIns="0" bIns="0" anchor="t">
            <a:spAutoFit/>
          </a:bodyPr>
          <a:lstStyle/>
          <a:p>
            <a:pPr algn="ctr">
              <a:lnSpc>
                <a:spcPct val="125000"/>
              </a:lnSpc>
              <a:spcAft>
                <a:spcPts val="0"/>
              </a:spcAft>
            </a:pPr>
            <a:r>
              <a:rPr sz="1200" b="0" i="0">
                <a:solidFill>
                  <a:srgbClr val="4A5262"/>
                </a:solidFill>
                <a:latin typeface="Arial"/>
              </a:rPr>
              <a:t>J</a:t>
            </a:r>
          </a:p>
        </p:txBody>
      </p:sp>
      <p:sp>
        <p:nvSpPr>
          <p:cNvPr id="16" name="Rounded Rectangle 15"/>
          <p:cNvSpPr/>
          <p:nvPr/>
        </p:nvSpPr>
        <p:spPr>
          <a:xfrm>
            <a:off x="4184650" y="3924300"/>
            <a:ext cx="473075" cy="647700"/>
          </a:xfrm>
          <a:prstGeom prst="roundRect">
            <a:avLst>
              <a:gd name="adj" fmla="val 4026"/>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84650" y="4648200"/>
            <a:ext cx="473075" cy="215900"/>
          </a:xfrm>
          <a:prstGeom prst="rect">
            <a:avLst/>
          </a:prstGeom>
          <a:noFill/>
        </p:spPr>
        <p:txBody>
          <a:bodyPr wrap="square" lIns="0" rIns="0" tIns="0" bIns="0" anchor="t">
            <a:spAutoFit/>
          </a:bodyPr>
          <a:lstStyle/>
          <a:p>
            <a:pPr algn="ctr">
              <a:lnSpc>
                <a:spcPct val="125000"/>
              </a:lnSpc>
              <a:spcAft>
                <a:spcPts val="0"/>
              </a:spcAft>
            </a:pPr>
            <a:r>
              <a:rPr sz="1200" b="0" i="0">
                <a:solidFill>
                  <a:srgbClr val="4A5262"/>
                </a:solidFill>
                <a:latin typeface="Arial"/>
              </a:rPr>
              <a:t>J</a:t>
            </a:r>
          </a:p>
        </p:txBody>
      </p:sp>
      <p:sp>
        <p:nvSpPr>
          <p:cNvPr id="18" name="Rounded Rectangle 17"/>
          <p:cNvSpPr/>
          <p:nvPr/>
        </p:nvSpPr>
        <p:spPr>
          <a:xfrm>
            <a:off x="4746625" y="3492500"/>
            <a:ext cx="473075" cy="1079500"/>
          </a:xfrm>
          <a:prstGeom prst="roundRect">
            <a:avLst>
              <a:gd name="adj" fmla="val 4026"/>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46625" y="4648200"/>
            <a:ext cx="473075" cy="215900"/>
          </a:xfrm>
          <a:prstGeom prst="rect">
            <a:avLst/>
          </a:prstGeom>
          <a:noFill/>
        </p:spPr>
        <p:txBody>
          <a:bodyPr wrap="square" lIns="0" rIns="0" tIns="0" bIns="0" anchor="t">
            <a:spAutoFit/>
          </a:bodyPr>
          <a:lstStyle/>
          <a:p>
            <a:pPr algn="ctr">
              <a:lnSpc>
                <a:spcPct val="125000"/>
              </a:lnSpc>
              <a:spcAft>
                <a:spcPts val="0"/>
              </a:spcAft>
            </a:pPr>
            <a:r>
              <a:rPr sz="1200" b="0" i="0">
                <a:solidFill>
                  <a:srgbClr val="4A5262"/>
                </a:solidFill>
                <a:latin typeface="Arial"/>
              </a:rPr>
              <a:t>A</a:t>
            </a:r>
          </a:p>
        </p:txBody>
      </p:sp>
      <p:sp>
        <p:nvSpPr>
          <p:cNvPr id="20" name="Rounded Rectangle 19"/>
          <p:cNvSpPr/>
          <p:nvPr/>
        </p:nvSpPr>
        <p:spPr>
          <a:xfrm>
            <a:off x="5308600" y="2762250"/>
            <a:ext cx="473075" cy="1809750"/>
          </a:xfrm>
          <a:prstGeom prst="roundRect">
            <a:avLst>
              <a:gd name="adj" fmla="val 4026"/>
            </a:avLst>
          </a:prstGeom>
          <a:solidFill>
            <a:srgbClr val="9AA1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8600" y="4648200"/>
            <a:ext cx="473075" cy="215900"/>
          </a:xfrm>
          <a:prstGeom prst="rect">
            <a:avLst/>
          </a:prstGeom>
          <a:noFill/>
        </p:spPr>
        <p:txBody>
          <a:bodyPr wrap="square" lIns="0" rIns="0" tIns="0" bIns="0" anchor="t">
            <a:spAutoFit/>
          </a:bodyPr>
          <a:lstStyle/>
          <a:p>
            <a:pPr algn="ctr">
              <a:lnSpc>
                <a:spcPct val="125000"/>
              </a:lnSpc>
              <a:spcAft>
                <a:spcPts val="0"/>
              </a:spcAft>
            </a:pPr>
            <a:r>
              <a:rPr sz="1200" b="0" i="0">
                <a:solidFill>
                  <a:srgbClr val="4A5262"/>
                </a:solidFill>
                <a:latin typeface="Arial"/>
              </a:rPr>
              <a:t>S</a:t>
            </a:r>
          </a:p>
        </p:txBody>
      </p:sp>
      <p:sp>
        <p:nvSpPr>
          <p:cNvPr id="22" name="Rounded Rectangle 21"/>
          <p:cNvSpPr/>
          <p:nvPr/>
        </p:nvSpPr>
        <p:spPr>
          <a:xfrm>
            <a:off x="5870575" y="3467100"/>
            <a:ext cx="473075" cy="1104900"/>
          </a:xfrm>
          <a:prstGeom prst="roundRect">
            <a:avLst>
              <a:gd name="adj" fmla="val 4026"/>
            </a:avLst>
          </a:prstGeom>
          <a:solidFill>
            <a:srgbClr val="5E6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70575" y="4648200"/>
            <a:ext cx="473075" cy="215900"/>
          </a:xfrm>
          <a:prstGeom prst="rect">
            <a:avLst/>
          </a:prstGeom>
          <a:noFill/>
        </p:spPr>
        <p:txBody>
          <a:bodyPr wrap="square" lIns="0" rIns="0" tIns="0" bIns="0" anchor="t">
            <a:spAutoFit/>
          </a:bodyPr>
          <a:lstStyle/>
          <a:p>
            <a:pPr algn="ctr">
              <a:lnSpc>
                <a:spcPct val="125000"/>
              </a:lnSpc>
              <a:spcAft>
                <a:spcPts val="0"/>
              </a:spcAft>
            </a:pPr>
            <a:r>
              <a:rPr sz="1200" b="0" i="0">
                <a:solidFill>
                  <a:srgbClr val="4A5262"/>
                </a:solidFill>
                <a:latin typeface="Arial"/>
              </a:rPr>
              <a:t>O</a:t>
            </a:r>
          </a:p>
        </p:txBody>
      </p:sp>
      <p:sp>
        <p:nvSpPr>
          <p:cNvPr id="24" name="Rounded Rectangle 23"/>
          <p:cNvSpPr/>
          <p:nvPr/>
        </p:nvSpPr>
        <p:spPr>
          <a:xfrm>
            <a:off x="6432550" y="2273300"/>
            <a:ext cx="473075" cy="2298700"/>
          </a:xfrm>
          <a:prstGeom prst="roundRect">
            <a:avLst>
              <a:gd name="adj" fmla="val 4026"/>
            </a:avLst>
          </a:prstGeom>
          <a:solidFill>
            <a:srgbClr val="B54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32550" y="4648200"/>
            <a:ext cx="473075" cy="215900"/>
          </a:xfrm>
          <a:prstGeom prst="rect">
            <a:avLst/>
          </a:prstGeom>
          <a:noFill/>
        </p:spPr>
        <p:txBody>
          <a:bodyPr wrap="square" lIns="0" rIns="0" tIns="0" bIns="0" anchor="t">
            <a:spAutoFit/>
          </a:bodyPr>
          <a:lstStyle/>
          <a:p>
            <a:pPr algn="ctr">
              <a:lnSpc>
                <a:spcPct val="125000"/>
              </a:lnSpc>
              <a:spcAft>
                <a:spcPts val="0"/>
              </a:spcAft>
            </a:pPr>
            <a:r>
              <a:rPr sz="1200" b="0" i="0">
                <a:solidFill>
                  <a:srgbClr val="4A5262"/>
                </a:solidFill>
                <a:latin typeface="Arial"/>
              </a:rPr>
              <a:t>N</a:t>
            </a:r>
          </a:p>
        </p:txBody>
      </p:sp>
      <p:sp>
        <p:nvSpPr>
          <p:cNvPr id="26" name="Rounded Rectangle 25"/>
          <p:cNvSpPr/>
          <p:nvPr/>
        </p:nvSpPr>
        <p:spPr>
          <a:xfrm>
            <a:off x="6994525" y="2032000"/>
            <a:ext cx="473075" cy="2540000"/>
          </a:xfrm>
          <a:prstGeom prst="roundRect">
            <a:avLst>
              <a:gd name="adj" fmla="val 4026"/>
            </a:avLst>
          </a:prstGeom>
          <a:solidFill>
            <a:srgbClr val="B54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94525" y="4648200"/>
            <a:ext cx="473075" cy="215900"/>
          </a:xfrm>
          <a:prstGeom prst="rect">
            <a:avLst/>
          </a:prstGeom>
          <a:noFill/>
        </p:spPr>
        <p:txBody>
          <a:bodyPr wrap="square" lIns="0" rIns="0" tIns="0" bIns="0" anchor="t">
            <a:spAutoFit/>
          </a:bodyPr>
          <a:lstStyle/>
          <a:p>
            <a:pPr algn="ctr">
              <a:lnSpc>
                <a:spcPct val="125000"/>
              </a:lnSpc>
              <a:spcAft>
                <a:spcPts val="0"/>
              </a:spcAft>
            </a:pPr>
            <a:r>
              <a:rPr sz="1200" b="0" i="0">
                <a:solidFill>
                  <a:srgbClr val="4A5262"/>
                </a:solidFill>
                <a:latin typeface="Arial"/>
              </a:rPr>
              <a:t>D</a:t>
            </a:r>
          </a:p>
        </p:txBody>
      </p:sp>
      <p:sp>
        <p:nvSpPr>
          <p:cNvPr id="28" name="TextBox 27"/>
          <p:cNvSpPr txBox="1"/>
          <p:nvPr/>
        </p:nvSpPr>
        <p:spPr>
          <a:xfrm>
            <a:off x="812800" y="4953000"/>
            <a:ext cx="6654800" cy="228600"/>
          </a:xfrm>
          <a:prstGeom prst="rect">
            <a:avLst/>
          </a:prstGeom>
          <a:noFill/>
        </p:spPr>
        <p:txBody>
          <a:bodyPr wrap="square" lIns="0" rIns="0" tIns="0" bIns="0" anchor="t">
            <a:spAutoFit/>
          </a:bodyPr>
          <a:lstStyle/>
          <a:p>
            <a:pPr algn="l">
              <a:lnSpc>
                <a:spcPct val="125000"/>
              </a:lnSpc>
              <a:spcAft>
                <a:spcPts val="0"/>
              </a:spcAft>
            </a:pPr>
            <a:r>
              <a:rPr sz="1200" b="0" i="0">
                <a:solidFill>
                  <a:srgbClr val="6B7280"/>
                </a:solidFill>
                <a:latin typeface="Arial"/>
              </a:rPr>
              <a:t>% marcadas por mes de 2023 · gris: entrenamiento · azul: validación · naranja: prueba</a:t>
            </a:r>
          </a:p>
        </p:txBody>
      </p:sp>
      <p:sp>
        <p:nvSpPr>
          <p:cNvPr id="29" name="Rounded Rectangle 28"/>
          <p:cNvSpPr/>
          <p:nvPr/>
        </p:nvSpPr>
        <p:spPr>
          <a:xfrm>
            <a:off x="7823200" y="2095500"/>
            <a:ext cx="1123950" cy="762000"/>
          </a:xfrm>
          <a:prstGeom prst="roundRect">
            <a:avLst>
              <a:gd name="adj" fmla="val 10000"/>
            </a:avLst>
          </a:prstGeom>
          <a:solidFill>
            <a:srgbClr val="FFFDF9"/>
          </a:solidFill>
          <a:ln w="9525">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50200" y="2209800"/>
            <a:ext cx="889000" cy="215900"/>
          </a:xfrm>
          <a:prstGeom prst="rect">
            <a:avLst/>
          </a:prstGeom>
          <a:noFill/>
        </p:spPr>
        <p:txBody>
          <a:bodyPr wrap="square" lIns="0" rIns="0" tIns="0" bIns="0" anchor="t">
            <a:spAutoFit/>
          </a:bodyPr>
          <a:lstStyle/>
          <a:p>
            <a:pPr algn="l">
              <a:lnSpc>
                <a:spcPct val="125000"/>
              </a:lnSpc>
              <a:spcAft>
                <a:spcPts val="0"/>
              </a:spcAft>
            </a:pPr>
            <a:r>
              <a:rPr sz="1200" b="0" i="0">
                <a:solidFill>
                  <a:srgbClr val="4A5262"/>
                </a:solidFill>
                <a:latin typeface="Arial"/>
              </a:rPr>
              <a:t>Entren.</a:t>
            </a:r>
          </a:p>
        </p:txBody>
      </p:sp>
      <p:sp>
        <p:nvSpPr>
          <p:cNvPr id="31" name="TextBox 30"/>
          <p:cNvSpPr txBox="1"/>
          <p:nvPr/>
        </p:nvSpPr>
        <p:spPr>
          <a:xfrm>
            <a:off x="7950200" y="2463800"/>
            <a:ext cx="889000" cy="317500"/>
          </a:xfrm>
          <a:prstGeom prst="rect">
            <a:avLst/>
          </a:prstGeom>
          <a:noFill/>
        </p:spPr>
        <p:txBody>
          <a:bodyPr wrap="square" lIns="0" rIns="0" tIns="0" bIns="0" anchor="t">
            <a:spAutoFit/>
          </a:bodyPr>
          <a:lstStyle/>
          <a:p>
            <a:pPr algn="l">
              <a:lnSpc>
                <a:spcPct val="125000"/>
              </a:lnSpc>
              <a:spcAft>
                <a:spcPts val="0"/>
              </a:spcAft>
            </a:pPr>
            <a:r>
              <a:rPr sz="1800" b="1" i="0">
                <a:solidFill>
                  <a:srgbClr val="1B2230"/>
                </a:solidFill>
                <a:latin typeface="Arial"/>
              </a:rPr>
              <a:t>2.0%</a:t>
            </a:r>
          </a:p>
        </p:txBody>
      </p:sp>
      <p:sp>
        <p:nvSpPr>
          <p:cNvPr id="32" name="Rounded Rectangle 31"/>
          <p:cNvSpPr/>
          <p:nvPr/>
        </p:nvSpPr>
        <p:spPr>
          <a:xfrm>
            <a:off x="9023350" y="2095500"/>
            <a:ext cx="1123950" cy="762000"/>
          </a:xfrm>
          <a:prstGeom prst="roundRect">
            <a:avLst>
              <a:gd name="adj" fmla="val 10000"/>
            </a:avLst>
          </a:prstGeom>
          <a:solidFill>
            <a:srgbClr val="FFFDF9"/>
          </a:solidFill>
          <a:ln w="9525">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50350" y="2209800"/>
            <a:ext cx="889000" cy="215900"/>
          </a:xfrm>
          <a:prstGeom prst="rect">
            <a:avLst/>
          </a:prstGeom>
          <a:noFill/>
        </p:spPr>
        <p:txBody>
          <a:bodyPr wrap="square" lIns="0" rIns="0" tIns="0" bIns="0" anchor="t">
            <a:spAutoFit/>
          </a:bodyPr>
          <a:lstStyle/>
          <a:p>
            <a:pPr algn="l">
              <a:lnSpc>
                <a:spcPct val="125000"/>
              </a:lnSpc>
              <a:spcAft>
                <a:spcPts val="0"/>
              </a:spcAft>
            </a:pPr>
            <a:r>
              <a:rPr sz="1200" b="0" i="0">
                <a:solidFill>
                  <a:srgbClr val="4A5262"/>
                </a:solidFill>
                <a:latin typeface="Arial"/>
              </a:rPr>
              <a:t>Valid.</a:t>
            </a:r>
          </a:p>
        </p:txBody>
      </p:sp>
      <p:sp>
        <p:nvSpPr>
          <p:cNvPr id="34" name="TextBox 33"/>
          <p:cNvSpPr txBox="1"/>
          <p:nvPr/>
        </p:nvSpPr>
        <p:spPr>
          <a:xfrm>
            <a:off x="9150350" y="2463800"/>
            <a:ext cx="889000" cy="317500"/>
          </a:xfrm>
          <a:prstGeom prst="rect">
            <a:avLst/>
          </a:prstGeom>
          <a:noFill/>
        </p:spPr>
        <p:txBody>
          <a:bodyPr wrap="square" lIns="0" rIns="0" tIns="0" bIns="0" anchor="t">
            <a:spAutoFit/>
          </a:bodyPr>
          <a:lstStyle/>
          <a:p>
            <a:pPr algn="l">
              <a:lnSpc>
                <a:spcPct val="125000"/>
              </a:lnSpc>
              <a:spcAft>
                <a:spcPts val="0"/>
              </a:spcAft>
            </a:pPr>
            <a:r>
              <a:rPr sz="1800" b="1" i="0">
                <a:solidFill>
                  <a:srgbClr val="1B2230"/>
                </a:solidFill>
                <a:latin typeface="Arial"/>
              </a:rPr>
              <a:t>2.3%</a:t>
            </a:r>
          </a:p>
        </p:txBody>
      </p:sp>
      <p:sp>
        <p:nvSpPr>
          <p:cNvPr id="35" name="Rounded Rectangle 34"/>
          <p:cNvSpPr/>
          <p:nvPr/>
        </p:nvSpPr>
        <p:spPr>
          <a:xfrm>
            <a:off x="10223500" y="2095500"/>
            <a:ext cx="1123950" cy="762000"/>
          </a:xfrm>
          <a:prstGeom prst="roundRect">
            <a:avLst>
              <a:gd name="adj" fmla="val 10000"/>
            </a:avLst>
          </a:prstGeom>
          <a:solidFill>
            <a:srgbClr val="FFFDF9"/>
          </a:solidFill>
          <a:ln w="9525">
            <a:solidFill>
              <a:srgbClr val="DDD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50500" y="2209800"/>
            <a:ext cx="889000" cy="215900"/>
          </a:xfrm>
          <a:prstGeom prst="rect">
            <a:avLst/>
          </a:prstGeom>
          <a:noFill/>
        </p:spPr>
        <p:txBody>
          <a:bodyPr wrap="square" lIns="0" rIns="0" tIns="0" bIns="0" anchor="t">
            <a:spAutoFit/>
          </a:bodyPr>
          <a:lstStyle/>
          <a:p>
            <a:pPr algn="l">
              <a:lnSpc>
                <a:spcPct val="125000"/>
              </a:lnSpc>
              <a:spcAft>
                <a:spcPts val="0"/>
              </a:spcAft>
            </a:pPr>
            <a:r>
              <a:rPr sz="1200" b="0" i="0">
                <a:solidFill>
                  <a:srgbClr val="4A5262"/>
                </a:solidFill>
                <a:latin typeface="Arial"/>
              </a:rPr>
              <a:t>Prueba</a:t>
            </a:r>
          </a:p>
        </p:txBody>
      </p:sp>
      <p:sp>
        <p:nvSpPr>
          <p:cNvPr id="37" name="TextBox 36"/>
          <p:cNvSpPr txBox="1"/>
          <p:nvPr/>
        </p:nvSpPr>
        <p:spPr>
          <a:xfrm>
            <a:off x="10350500" y="2463800"/>
            <a:ext cx="889000" cy="317500"/>
          </a:xfrm>
          <a:prstGeom prst="rect">
            <a:avLst/>
          </a:prstGeom>
          <a:noFill/>
        </p:spPr>
        <p:txBody>
          <a:bodyPr wrap="square" lIns="0" rIns="0" tIns="0" bIns="0" anchor="t">
            <a:spAutoFit/>
          </a:bodyPr>
          <a:lstStyle/>
          <a:p>
            <a:pPr algn="l">
              <a:lnSpc>
                <a:spcPct val="125000"/>
              </a:lnSpc>
              <a:spcAft>
                <a:spcPts val="0"/>
              </a:spcAft>
            </a:pPr>
            <a:r>
              <a:rPr sz="1800" b="1" i="0">
                <a:solidFill>
                  <a:srgbClr val="B5491F"/>
                </a:solidFill>
                <a:latin typeface="Arial"/>
              </a:rPr>
              <a:t>6.8%</a:t>
            </a:r>
          </a:p>
        </p:txBody>
      </p:sp>
      <p:sp>
        <p:nvSpPr>
          <p:cNvPr id="38" name="Rounded Rectangle 37"/>
          <p:cNvSpPr/>
          <p:nvPr/>
        </p:nvSpPr>
        <p:spPr>
          <a:xfrm>
            <a:off x="7823200" y="2984500"/>
            <a:ext cx="3556000" cy="2095500"/>
          </a:xfrm>
          <a:prstGeom prst="roundRect">
            <a:avLst>
              <a:gd name="adj" fmla="val 4848"/>
            </a:avLst>
          </a:prstGeom>
          <a:solidFill>
            <a:srgbClr val="18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77200" y="3238500"/>
            <a:ext cx="3048000" cy="1587500"/>
          </a:xfrm>
          <a:prstGeom prst="rect">
            <a:avLst/>
          </a:prstGeom>
          <a:noFill/>
        </p:spPr>
        <p:txBody>
          <a:bodyPr wrap="square" lIns="0" rIns="0" tIns="0" bIns="0" anchor="t">
            <a:spAutoFit/>
          </a:bodyPr>
          <a:lstStyle/>
          <a:p>
            <a:pPr algn="l">
              <a:lnSpc>
                <a:spcPct val="135000"/>
              </a:lnSpc>
              <a:spcAft>
                <a:spcPts val="1000"/>
              </a:spcAft>
            </a:pPr>
            <a:r>
              <a:rPr sz="1300" b="0" i="0">
                <a:solidFill>
                  <a:srgbClr val="D7DBE1"/>
                </a:solidFill>
                <a:latin typeface="Arial"/>
              </a:rPr>
              <a:t>De acuerdo con Dal Pozzolo et al. (2018), los hábitos de los clientes y las estrategias de fraude cambian con el tiempo (</a:t>
            </a:r>
            <a:r>
              <a:rPr sz="1300" b="0" i="1">
                <a:solidFill>
                  <a:srgbClr val="D7DBE1"/>
                </a:solidFill>
                <a:latin typeface="Arial"/>
              </a:rPr>
              <a:t>concept drift</a:t>
            </a:r>
            <a:r>
              <a:rPr sz="1300" b="0" i="0">
                <a:solidFill>
                  <a:srgbClr val="D7DBE1"/>
                </a:solidFill>
                <a:latin typeface="Arial"/>
              </a:rPr>
              <a:t>); Gama et al. (2014) explican que los modelos fijos deben actualizarse.</a:t>
            </a:r>
          </a:p>
        </p:txBody>
      </p:sp>
      <p:sp>
        <p:nvSpPr>
          <p:cNvPr id="40" name="TextBox 39"/>
          <p:cNvSpPr txBox="1"/>
          <p:nvPr/>
        </p:nvSpPr>
        <p:spPr>
          <a:xfrm>
            <a:off x="812800" y="6223000"/>
            <a:ext cx="10566400" cy="228600"/>
          </a:xfrm>
          <a:prstGeom prst="rect">
            <a:avLst/>
          </a:prstGeom>
          <a:noFill/>
        </p:spPr>
        <p:txBody>
          <a:bodyPr wrap="square" lIns="0" rIns="0" tIns="0" bIns="0" anchor="t">
            <a:spAutoFit/>
          </a:bodyPr>
          <a:lstStyle/>
          <a:p>
            <a:pPr algn="l">
              <a:lnSpc>
                <a:spcPct val="125000"/>
              </a:lnSpc>
              <a:spcAft>
                <a:spcPts val="0"/>
              </a:spcAft>
            </a:pPr>
            <a:r>
              <a:rPr sz="1200" b="0" i="0">
                <a:solidFill>
                  <a:srgbClr val="6B7280"/>
                </a:solidFill>
                <a:latin typeface="Arial"/>
              </a:rPr>
              <a:t>Fuentes: resultados del modelo; Dal Pozzolo et al., 2018 (IEEE TNNLS); Gama et al., 2014 (ACM Comput. Surv.)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square" lIns="0" rIns="0" tIns="0" bIns="0" anchor="t">
            <a:spAutoFit/>
          </a:bodyPr>
          <a:lstStyle/>
          <a:p>
            <a:pPr algn="l">
              <a:lnSpc>
                <a:spcPct val="125000"/>
              </a:lnSpc>
              <a:spcAft>
                <a:spcPts val="0"/>
              </a:spcAft>
            </a:pPr>
            <a:r>
              <a:rPr sz="1200" b="1" i="0">
                <a:solidFill>
                  <a:srgbClr val="B5491F"/>
                </a:solidFill>
                <a:latin typeface="Arial"/>
              </a:rPr>
              <a:t>SUSTENTO</a:t>
            </a:r>
          </a:p>
        </p:txBody>
      </p:sp>
      <p:sp>
        <p:nvSpPr>
          <p:cNvPr id="3" name="TextBox 2"/>
          <p:cNvSpPr txBox="1"/>
          <p:nvPr/>
        </p:nvSpPr>
        <p:spPr>
          <a:xfrm>
            <a:off x="812800" y="1079500"/>
            <a:ext cx="10566400" cy="571500"/>
          </a:xfrm>
          <a:prstGeom prst="rect">
            <a:avLst/>
          </a:prstGeom>
          <a:noFill/>
        </p:spPr>
        <p:txBody>
          <a:bodyPr wrap="square" lIns="0" rIns="0" tIns="0" bIns="0" anchor="t">
            <a:spAutoFit/>
          </a:bodyPr>
          <a:lstStyle/>
          <a:p>
            <a:pPr algn="l">
              <a:lnSpc>
                <a:spcPct val="110000"/>
              </a:lnSpc>
              <a:spcAft>
                <a:spcPts val="0"/>
              </a:spcAft>
            </a:pPr>
            <a:r>
              <a:rPr sz="3200" b="1" i="0">
                <a:solidFill>
                  <a:srgbClr val="1B2230"/>
                </a:solidFill>
                <a:latin typeface="Georgia"/>
              </a:rPr>
              <a:t>Cada resultado, con su fuente</a:t>
            </a:r>
          </a:p>
        </p:txBody>
      </p:sp>
      <p:graphicFrame>
        <p:nvGraphicFramePr>
          <p:cNvPr id="4" name="Table 3"/>
          <p:cNvGraphicFramePr>
            <a:graphicFrameLocks noGrp="1"/>
          </p:cNvGraphicFramePr>
          <p:nvPr/>
        </p:nvGraphicFramePr>
        <p:xfrm>
          <a:off x="812800" y="1905000"/>
          <a:ext cx="10566400" cy="3556000"/>
        </p:xfrm>
        <a:graphic>
          <a:graphicData uri="http://schemas.openxmlformats.org/drawingml/2006/table">
            <a:tbl>
              <a:tblPr firstRow="1" bandRow="1">
                <a:tableStyleId>{5C22544A-7EE6-4342-B048-85BDC9FD1C3A}</a:tableStyleId>
              </a:tblPr>
              <a:tblGrid>
                <a:gridCol w="5492750"/>
                <a:gridCol w="5073650"/>
              </a:tblGrid>
              <a:tr h="444500">
                <a:tc>
                  <a:txBody>
                    <a:bodyPr/>
                    <a:lstStyle/>
                    <a:p>
                      <a:r>
                        <a:rPr sz="1300" b="1">
                          <a:solidFill>
                            <a:srgbClr val="1B2230"/>
                          </a:solidFill>
                          <a:latin typeface="Arial"/>
                        </a:rPr>
                        <a:t>Nuestro resultado</a:t>
                      </a:r>
                    </a:p>
                  </a:txBody>
                  <a:tcPr anchor="ctr">
                    <a:solidFill>
                      <a:srgbClr val="E1DCD1"/>
                    </a:solidFill>
                  </a:tcPr>
                </a:tc>
                <a:tc>
                  <a:txBody>
                    <a:bodyPr/>
                    <a:lstStyle/>
                    <a:p>
                      <a:r>
                        <a:rPr sz="1300" b="1">
                          <a:solidFill>
                            <a:srgbClr val="1B2230"/>
                          </a:solidFill>
                          <a:latin typeface="Arial"/>
                        </a:rPr>
                        <a:t>Coincide con</a:t>
                      </a:r>
                    </a:p>
                  </a:txBody>
                  <a:tcPr anchor="ctr">
                    <a:solidFill>
                      <a:srgbClr val="E1DCD1"/>
                    </a:solidFill>
                  </a:tcPr>
                </a:tc>
              </a:tr>
              <a:tr h="444500">
                <a:tc>
                  <a:txBody>
                    <a:bodyPr/>
                    <a:lstStyle/>
                    <a:p>
                      <a:r>
                        <a:rPr sz="1300" b="0">
                          <a:solidFill>
                            <a:srgbClr val="1B2230"/>
                          </a:solidFill>
                          <a:latin typeface="Arial"/>
                        </a:rPr>
                        <a:t>La madrugada (00–04 h) se marca 8 veces más</a:t>
                      </a:r>
                    </a:p>
                  </a:txBody>
                  <a:tcPr anchor="ctr">
                    <a:solidFill>
                      <a:srgbClr val="FBFAF6"/>
                    </a:solidFill>
                  </a:tcPr>
                </a:tc>
                <a:tc>
                  <a:txBody>
                    <a:bodyPr/>
                    <a:lstStyle/>
                    <a:p>
                      <a:r>
                        <a:rPr sz="1300" b="0">
                          <a:solidFill>
                            <a:srgbClr val="1B2230"/>
                          </a:solidFill>
                          <a:latin typeface="Arial"/>
                        </a:rPr>
                        <a:t>Afriyie et al., 2023; Accertify, 2026</a:t>
                      </a:r>
                    </a:p>
                  </a:txBody>
                  <a:tcPr anchor="ctr">
                    <a:solidFill>
                      <a:srgbClr val="FBFAF6"/>
                    </a:solidFill>
                  </a:tcPr>
                </a:tc>
              </a:tr>
              <a:tr h="444500">
                <a:tc>
                  <a:txBody>
                    <a:bodyPr/>
                    <a:lstStyle/>
                    <a:p>
                      <a:r>
                        <a:rPr sz="1300" b="0">
                          <a:solidFill>
                            <a:srgbClr val="1B2230"/>
                          </a:solidFill>
                          <a:latin typeface="Arial"/>
                        </a:rPr>
                        <a:t>El fin de semana se marca casi 8 veces más</a:t>
                      </a:r>
                    </a:p>
                  </a:txBody>
                  <a:tcPr anchor="ctr">
                    <a:solidFill>
                      <a:srgbClr val="F1EEE7"/>
                    </a:solidFill>
                  </a:tcPr>
                </a:tc>
                <a:tc>
                  <a:txBody>
                    <a:bodyPr/>
                    <a:lstStyle/>
                    <a:p>
                      <a:r>
                        <a:rPr sz="1300" b="0">
                          <a:solidFill>
                            <a:srgbClr val="1B2230"/>
                          </a:solidFill>
                          <a:latin typeface="Arial"/>
                        </a:rPr>
                        <a:t>Woodward, 2017 (reporte de Stripe)</a:t>
                      </a:r>
                    </a:p>
                  </a:txBody>
                  <a:tcPr anchor="ctr">
                    <a:solidFill>
                      <a:srgbClr val="F1EEE7"/>
                    </a:solidFill>
                  </a:tcPr>
                </a:tc>
              </a:tr>
              <a:tr h="444500">
                <a:tc>
                  <a:txBody>
                    <a:bodyPr/>
                    <a:lstStyle/>
                    <a:p>
                      <a:r>
                        <a:rPr sz="1300" b="0">
                          <a:solidFill>
                            <a:srgbClr val="1B2230"/>
                          </a:solidFill>
                          <a:latin typeface="Arial"/>
                        </a:rPr>
                        <a:t>Lo marcado es un monto grande para su contexto</a:t>
                      </a:r>
                    </a:p>
                  </a:txBody>
                  <a:tcPr anchor="ctr">
                    <a:solidFill>
                      <a:srgbClr val="FBFAF6"/>
                    </a:solidFill>
                  </a:tcPr>
                </a:tc>
                <a:tc>
                  <a:txBody>
                    <a:bodyPr/>
                    <a:lstStyle/>
                    <a:p>
                      <a:r>
                        <a:rPr sz="1300" b="0">
                          <a:solidFill>
                            <a:srgbClr val="1B2230"/>
                          </a:solidFill>
                          <a:latin typeface="Arial"/>
                        </a:rPr>
                        <a:t>Whitrow et al., 2009; Correa Bahnsen et al., 2016</a:t>
                      </a:r>
                    </a:p>
                  </a:txBody>
                  <a:tcPr anchor="ctr">
                    <a:solidFill>
                      <a:srgbClr val="FBFAF6"/>
                    </a:solidFill>
                  </a:tcPr>
                </a:tc>
              </a:tr>
              <a:tr h="444500">
                <a:tc>
                  <a:txBody>
                    <a:bodyPr/>
                    <a:lstStyle/>
                    <a:p>
                      <a:r>
                        <a:rPr sz="1300" b="0">
                          <a:solidFill>
                            <a:srgbClr val="1B2230"/>
                          </a:solidFill>
                          <a:latin typeface="Arial"/>
                        </a:rPr>
                        <a:t>La tasa sube de 2% a 6.8% con el tiempo</a:t>
                      </a:r>
                    </a:p>
                  </a:txBody>
                  <a:tcPr anchor="ctr">
                    <a:solidFill>
                      <a:srgbClr val="F1EEE7"/>
                    </a:solidFill>
                  </a:tcPr>
                </a:tc>
                <a:tc>
                  <a:txBody>
                    <a:bodyPr/>
                    <a:lstStyle/>
                    <a:p>
                      <a:r>
                        <a:rPr sz="1300" b="0">
                          <a:solidFill>
                            <a:srgbClr val="1B2230"/>
                          </a:solidFill>
                          <a:latin typeface="Arial"/>
                        </a:rPr>
                        <a:t>Dal Pozzolo et al., 2018; Gama et al., 2014</a:t>
                      </a:r>
                    </a:p>
                  </a:txBody>
                  <a:tcPr anchor="ctr">
                    <a:solidFill>
                      <a:srgbClr val="F1EEE7"/>
                    </a:solidFill>
                  </a:tcPr>
                </a:tc>
              </a:tr>
              <a:tr h="444500">
                <a:tc>
                  <a:txBody>
                    <a:bodyPr/>
                    <a:lstStyle/>
                    <a:p>
                      <a:r>
                        <a:rPr sz="1300" b="0">
                          <a:solidFill>
                            <a:srgbClr val="1B2230"/>
                          </a:solidFill>
                          <a:latin typeface="Arial"/>
                        </a:rPr>
                        <a:t>El orden es más estable que la lista marcada</a:t>
                      </a:r>
                    </a:p>
                  </a:txBody>
                  <a:tcPr anchor="ctr">
                    <a:solidFill>
                      <a:srgbClr val="FBFAF6"/>
                    </a:solidFill>
                  </a:tcPr>
                </a:tc>
                <a:tc>
                  <a:txBody>
                    <a:bodyPr/>
                    <a:lstStyle/>
                    <a:p>
                      <a:r>
                        <a:rPr sz="1300" b="0">
                          <a:solidFill>
                            <a:srgbClr val="1B2230"/>
                          </a:solidFill>
                          <a:latin typeface="Arial"/>
                        </a:rPr>
                        <a:t>Kalousis et al., 2007; Hariri et al., 2021</a:t>
                      </a:r>
                    </a:p>
                  </a:txBody>
                  <a:tcPr anchor="ctr">
                    <a:solidFill>
                      <a:srgbClr val="FBFAF6"/>
                    </a:solidFill>
                  </a:tcPr>
                </a:tc>
              </a:tr>
              <a:tr h="444500">
                <a:tc>
                  <a:txBody>
                    <a:bodyPr/>
                    <a:lstStyle/>
                    <a:p>
                      <a:r>
                        <a:rPr sz="1300" b="0">
                          <a:solidFill>
                            <a:srgbClr val="1B2230"/>
                          </a:solidFill>
                          <a:latin typeface="Arial"/>
                        </a:rPr>
                        <a:t>Estados con pocos datos dan tasas extremas</a:t>
                      </a:r>
                    </a:p>
                  </a:txBody>
                  <a:tcPr anchor="ctr">
                    <a:solidFill>
                      <a:srgbClr val="F1EEE7"/>
                    </a:solidFill>
                  </a:tcPr>
                </a:tc>
                <a:tc>
                  <a:txBody>
                    <a:bodyPr/>
                    <a:lstStyle/>
                    <a:p>
                      <a:r>
                        <a:rPr sz="1300" b="0">
                          <a:solidFill>
                            <a:srgbClr val="1B2230"/>
                          </a:solidFill>
                          <a:latin typeface="Arial"/>
                        </a:rPr>
                        <a:t>Wainer, 2007</a:t>
                      </a:r>
                    </a:p>
                  </a:txBody>
                  <a:tcPr anchor="ctr">
                    <a:solidFill>
                      <a:srgbClr val="F1EEE7"/>
                    </a:solidFill>
                  </a:tcPr>
                </a:tc>
              </a:tr>
              <a:tr h="444500">
                <a:tc>
                  <a:txBody>
                    <a:bodyPr/>
                    <a:lstStyle/>
                    <a:p>
                      <a:r>
                        <a:rPr sz="1300" b="0">
                          <a:solidFill>
                            <a:srgbClr val="1B2230"/>
                          </a:solidFill>
                          <a:latin typeface="Arial"/>
                        </a:rPr>
                        <a:t>Las filas sintéticas se marcan más</a:t>
                      </a:r>
                    </a:p>
                  </a:txBody>
                  <a:tcPr anchor="ctr">
                    <a:solidFill>
                      <a:srgbClr val="FBFAF6"/>
                    </a:solidFill>
                  </a:tcPr>
                </a:tc>
                <a:tc>
                  <a:txBody>
                    <a:bodyPr/>
                    <a:lstStyle/>
                    <a:p>
                      <a:r>
                        <a:rPr sz="1300" b="0">
                          <a:solidFill>
                            <a:srgbClr val="1B2230"/>
                          </a:solidFill>
                          <a:latin typeface="Arial"/>
                        </a:rPr>
                        <a:t>Jordon et al., 2022</a:t>
                      </a:r>
                    </a:p>
                  </a:txBody>
                  <a:tcPr anchor="ctr">
                    <a:solidFill>
                      <a:srgbClr val="FBFAF6"/>
                    </a:solidFill>
                  </a:tcPr>
                </a:tc>
              </a:tr>
            </a:tbl>
          </a:graphicData>
        </a:graphic>
      </p:graphicFrame>
      <p:sp>
        <p:nvSpPr>
          <p:cNvPr id="5" name="TextBox 4"/>
          <p:cNvSpPr txBox="1"/>
          <p:nvPr/>
        </p:nvSpPr>
        <p:spPr>
          <a:xfrm>
            <a:off x="812800" y="5969000"/>
            <a:ext cx="10566400" cy="508000"/>
          </a:xfrm>
          <a:prstGeom prst="rect">
            <a:avLst/>
          </a:prstGeom>
          <a:noFill/>
        </p:spPr>
        <p:txBody>
          <a:bodyPr wrap="square" lIns="0" rIns="0" tIns="0" bIns="0" anchor="t">
            <a:spAutoFit/>
          </a:bodyPr>
          <a:lstStyle/>
          <a:p>
            <a:pPr algn="l">
              <a:lnSpc>
                <a:spcPct val="125000"/>
              </a:lnSpc>
              <a:spcAft>
                <a:spcPts val="0"/>
              </a:spcAft>
            </a:pPr>
            <a:r>
              <a:rPr sz="1200" b="0" i="0">
                <a:solidFill>
                  <a:srgbClr val="6B7280"/>
                </a:solidFill>
                <a:latin typeface="Arial"/>
              </a:rPr>
              <a:t>Las fuentes hablan de fraude real; nuestro modelo marca transacciones inusuales. La coincidencia hace creíbles los patrones, pero no los confirma como fraude.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square" lIns="0" rIns="0" tIns="0" bIns="0" anchor="t">
            <a:spAutoFit/>
          </a:bodyPr>
          <a:lstStyle/>
          <a:p>
            <a:pPr algn="l">
              <a:lnSpc>
                <a:spcPct val="125000"/>
              </a:lnSpc>
              <a:spcAft>
                <a:spcPts val="0"/>
              </a:spcAft>
            </a:pPr>
            <a:r>
              <a:rPr sz="1200" b="1" i="0">
                <a:solidFill>
                  <a:srgbClr val="B5491F"/>
                </a:solidFill>
                <a:latin typeface="Arial"/>
              </a:rPr>
              <a:t>BIBLIOGRAFÍA (1/2)</a:t>
            </a:r>
          </a:p>
        </p:txBody>
      </p:sp>
      <p:sp>
        <p:nvSpPr>
          <p:cNvPr id="3" name="TextBox 2"/>
          <p:cNvSpPr txBox="1"/>
          <p:nvPr/>
        </p:nvSpPr>
        <p:spPr>
          <a:xfrm>
            <a:off x="812800" y="1079500"/>
            <a:ext cx="10566400" cy="571500"/>
          </a:xfrm>
          <a:prstGeom prst="rect">
            <a:avLst/>
          </a:prstGeom>
          <a:noFill/>
        </p:spPr>
        <p:txBody>
          <a:bodyPr wrap="square" lIns="0" rIns="0" tIns="0" bIns="0" anchor="t">
            <a:spAutoFit/>
          </a:bodyPr>
          <a:lstStyle/>
          <a:p>
            <a:pPr algn="l">
              <a:lnSpc>
                <a:spcPct val="110000"/>
              </a:lnSpc>
              <a:spcAft>
                <a:spcPts val="0"/>
              </a:spcAft>
            </a:pPr>
            <a:r>
              <a:rPr sz="3200" b="1" i="0">
                <a:solidFill>
                  <a:srgbClr val="1B2230"/>
                </a:solidFill>
                <a:latin typeface="Georgia"/>
              </a:rPr>
              <a:t>Referencias</a:t>
            </a:r>
          </a:p>
        </p:txBody>
      </p:sp>
      <p:sp>
        <p:nvSpPr>
          <p:cNvPr id="4" name="TextBox 3"/>
          <p:cNvSpPr txBox="1"/>
          <p:nvPr/>
        </p:nvSpPr>
        <p:spPr>
          <a:xfrm>
            <a:off x="812800" y="1841500"/>
            <a:ext cx="10566400" cy="4318000"/>
          </a:xfrm>
          <a:prstGeom prst="rect">
            <a:avLst/>
          </a:prstGeom>
          <a:noFill/>
        </p:spPr>
        <p:txBody>
          <a:bodyPr wrap="square" lIns="0" rIns="0" tIns="0" bIns="0" anchor="t">
            <a:spAutoFit/>
          </a:bodyPr>
          <a:lstStyle/>
          <a:p>
            <a:pPr algn="l">
              <a:lnSpc>
                <a:spcPct val="120000"/>
              </a:lnSpc>
              <a:spcAft>
                <a:spcPts val="900"/>
              </a:spcAft>
            </a:pPr>
            <a:r>
              <a:rPr sz="1200" b="0" i="0">
                <a:solidFill>
                  <a:srgbClr val="1B2230"/>
                </a:solidFill>
                <a:latin typeface="Arial"/>
              </a:rPr>
              <a:t>Accertify. (2026, 8 de septiembre). </a:t>
            </a:r>
            <a:r>
              <a:rPr sz="1200" b="0" i="1">
                <a:solidFill>
                  <a:srgbClr val="1B2230"/>
                </a:solidFill>
                <a:latin typeface="Arial"/>
              </a:rPr>
              <a:t>Cyber Week fraud trends: 5 seasons of retail data</a:t>
            </a:r>
            <a:r>
              <a:rPr sz="1200" b="0" i="0">
                <a:solidFill>
                  <a:srgbClr val="1B2230"/>
                </a:solidFill>
                <a:latin typeface="Arial"/>
              </a:rPr>
              <a:t>. https://www.accertify.com/resource/5-seasons-retail-data-shows-how-cyber-week-has-changed/</a:t>
            </a:r>
          </a:p>
          <a:p>
            <a:pPr algn="l">
              <a:lnSpc>
                <a:spcPct val="120000"/>
              </a:lnSpc>
              <a:spcAft>
                <a:spcPts val="900"/>
              </a:spcAft>
            </a:pPr>
            <a:r>
              <a:rPr sz="1200" b="0" i="0">
                <a:solidFill>
                  <a:srgbClr val="1B2230"/>
                </a:solidFill>
                <a:latin typeface="Arial"/>
              </a:rPr>
              <a:t>Afriyie, J. K., Tawiah, K., Pels, W. A., Addai-Henne, S., Dwamena, H. A., Owiredu, E. O., Ayeh, S. A., &amp; Eshun, J. (2023). A supervised machine learning algorithm for detecting and predicting fraud in credit card transactions. </a:t>
            </a:r>
            <a:r>
              <a:rPr sz="1200" b="0" i="1">
                <a:solidFill>
                  <a:srgbClr val="1B2230"/>
                </a:solidFill>
                <a:latin typeface="Arial"/>
              </a:rPr>
              <a:t>Decision Analytics Journal, 6</a:t>
            </a:r>
            <a:r>
              <a:rPr sz="1200" b="0" i="0">
                <a:solidFill>
                  <a:srgbClr val="1B2230"/>
                </a:solidFill>
                <a:latin typeface="Arial"/>
              </a:rPr>
              <a:t>, 100163.</a:t>
            </a:r>
          </a:p>
          <a:p>
            <a:pPr algn="l">
              <a:lnSpc>
                <a:spcPct val="120000"/>
              </a:lnSpc>
              <a:spcAft>
                <a:spcPts val="900"/>
              </a:spcAft>
            </a:pPr>
            <a:r>
              <a:rPr sz="1200" b="0" i="0">
                <a:solidFill>
                  <a:srgbClr val="1B2230"/>
                </a:solidFill>
                <a:latin typeface="Arial"/>
              </a:rPr>
              <a:t>Correa Bahnsen, A., Aouada, D., Stojanovic, A., &amp; Ottersten, B. (2016). Feature engineering strategies for credit card fraud detection. </a:t>
            </a:r>
            <a:r>
              <a:rPr sz="1200" b="0" i="1">
                <a:solidFill>
                  <a:srgbClr val="1B2230"/>
                </a:solidFill>
                <a:latin typeface="Arial"/>
              </a:rPr>
              <a:t>Expert Systems with Applications, 51</a:t>
            </a:r>
            <a:r>
              <a:rPr sz="1200" b="0" i="0">
                <a:solidFill>
                  <a:srgbClr val="1B2230"/>
                </a:solidFill>
                <a:latin typeface="Arial"/>
              </a:rPr>
              <a:t>, 134–142.</a:t>
            </a:r>
          </a:p>
          <a:p>
            <a:pPr algn="l">
              <a:lnSpc>
                <a:spcPct val="120000"/>
              </a:lnSpc>
              <a:spcAft>
                <a:spcPts val="900"/>
              </a:spcAft>
            </a:pPr>
            <a:r>
              <a:rPr sz="1200" b="0" i="0">
                <a:solidFill>
                  <a:srgbClr val="1B2230"/>
                </a:solidFill>
                <a:latin typeface="Arial"/>
              </a:rPr>
              <a:t>Dal Pozzolo, A., Boracchi, G., Caelen, O., Alippi, C., &amp; Bontempi, G. (2018). Credit card fraud detection: A realistic modeling and a novel learning strategy. </a:t>
            </a:r>
            <a:r>
              <a:rPr sz="1200" b="0" i="1">
                <a:solidFill>
                  <a:srgbClr val="1B2230"/>
                </a:solidFill>
                <a:latin typeface="Arial"/>
              </a:rPr>
              <a:t>IEEE Transactions on Neural Networks and Learning Systems, 29</a:t>
            </a:r>
            <a:r>
              <a:rPr sz="1200" b="0" i="0">
                <a:solidFill>
                  <a:srgbClr val="1B2230"/>
                </a:solidFill>
                <a:latin typeface="Arial"/>
              </a:rPr>
              <a:t>(8), 3784–3797.</a:t>
            </a:r>
          </a:p>
          <a:p>
            <a:pPr algn="l">
              <a:lnSpc>
                <a:spcPct val="120000"/>
              </a:lnSpc>
              <a:spcAft>
                <a:spcPts val="900"/>
              </a:spcAft>
            </a:pPr>
            <a:r>
              <a:rPr sz="1200" b="0" i="0">
                <a:solidFill>
                  <a:srgbClr val="1B2230"/>
                </a:solidFill>
                <a:latin typeface="Arial"/>
              </a:rPr>
              <a:t>Gama, J., Žliobaitė, I., Bifet, A., Pechenizkiy, M., &amp; Bouchachia, A. (2014). A survey on concept drift adaptation. </a:t>
            </a:r>
            <a:r>
              <a:rPr sz="1200" b="0" i="1">
                <a:solidFill>
                  <a:srgbClr val="1B2230"/>
                </a:solidFill>
                <a:latin typeface="Arial"/>
              </a:rPr>
              <a:t>ACM Computing Surveys, 46</a:t>
            </a:r>
            <a:r>
              <a:rPr sz="1200" b="0" i="0">
                <a:solidFill>
                  <a:srgbClr val="1B2230"/>
                </a:solidFill>
                <a:latin typeface="Arial"/>
              </a:rPr>
              <a:t>(4), 44.</a:t>
            </a:r>
          </a:p>
          <a:p>
            <a:pPr algn="l">
              <a:lnSpc>
                <a:spcPct val="120000"/>
              </a:lnSpc>
              <a:spcAft>
                <a:spcPts val="900"/>
              </a:spcAft>
            </a:pPr>
            <a:r>
              <a:rPr sz="1200" b="0" i="0">
                <a:solidFill>
                  <a:srgbClr val="1B2230"/>
                </a:solidFill>
                <a:latin typeface="Arial"/>
              </a:rPr>
              <a:t>Hariri, S., Carrasco Kind, M., &amp; Brunner, R. J. (2021). Extended Isolation Forest. </a:t>
            </a:r>
            <a:r>
              <a:rPr sz="1200" b="0" i="1">
                <a:solidFill>
                  <a:srgbClr val="1B2230"/>
                </a:solidFill>
                <a:latin typeface="Arial"/>
              </a:rPr>
              <a:t>IEEE Transactions on Knowledge and Data Engineering, 33</a:t>
            </a:r>
            <a:r>
              <a:rPr sz="1200" b="0" i="0">
                <a:solidFill>
                  <a:srgbClr val="1B2230"/>
                </a:solidFill>
                <a:latin typeface="Arial"/>
              </a:rPr>
              <a:t>(4), 1479–1489.</a:t>
            </a:r>
          </a:p>
          <a:p>
            <a:pPr algn="l">
              <a:lnSpc>
                <a:spcPct val="120000"/>
              </a:lnSpc>
              <a:spcAft>
                <a:spcPts val="900"/>
              </a:spcAft>
            </a:pPr>
            <a:r>
              <a:rPr sz="1200" b="0" i="0">
                <a:solidFill>
                  <a:srgbClr val="1B2230"/>
                </a:solidFill>
                <a:latin typeface="Arial"/>
              </a:rPr>
              <a:t>Jordon, J., Szpruch, L., Houssiau, F., Bottarelli, M., Cherubin, G., Maple, C., Cohen, S. N., &amp; Weller, A. (2022). </a:t>
            </a:r>
            <a:r>
              <a:rPr sz="1200" b="0" i="1">
                <a:solidFill>
                  <a:srgbClr val="1B2230"/>
                </a:solidFill>
                <a:latin typeface="Arial"/>
              </a:rPr>
              <a:t>Synthetic data – what, why and how?</a:t>
            </a:r>
            <a:r>
              <a:rPr sz="1200" b="0" i="0">
                <a:solidFill>
                  <a:srgbClr val="1B2230"/>
                </a:solidFill>
                <a:latin typeface="Arial"/>
              </a:rPr>
              <a:t> arXiv:2205.03257.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TextBox 1"/>
          <p:cNvSpPr txBox="1"/>
          <p:nvPr/>
        </p:nvSpPr>
        <p:spPr>
          <a:xfrm>
            <a:off x="812800" y="812800"/>
            <a:ext cx="10566400" cy="215900"/>
          </a:xfrm>
          <a:prstGeom prst="rect">
            <a:avLst/>
          </a:prstGeom>
          <a:noFill/>
        </p:spPr>
        <p:txBody>
          <a:bodyPr wrap="square" lIns="0" rIns="0" tIns="0" bIns="0" anchor="t">
            <a:spAutoFit/>
          </a:bodyPr>
          <a:lstStyle/>
          <a:p>
            <a:pPr algn="l">
              <a:lnSpc>
                <a:spcPct val="125000"/>
              </a:lnSpc>
              <a:spcAft>
                <a:spcPts val="0"/>
              </a:spcAft>
            </a:pPr>
            <a:r>
              <a:rPr sz="1200" b="1" i="0">
                <a:solidFill>
                  <a:srgbClr val="B5491F"/>
                </a:solidFill>
                <a:latin typeface="Arial"/>
              </a:rPr>
              <a:t>BIBLIOGRAFÍA (2/2)</a:t>
            </a:r>
          </a:p>
        </p:txBody>
      </p:sp>
      <p:sp>
        <p:nvSpPr>
          <p:cNvPr id="3" name="TextBox 2"/>
          <p:cNvSpPr txBox="1"/>
          <p:nvPr/>
        </p:nvSpPr>
        <p:spPr>
          <a:xfrm>
            <a:off x="812800" y="1079500"/>
            <a:ext cx="10566400" cy="571500"/>
          </a:xfrm>
          <a:prstGeom prst="rect">
            <a:avLst/>
          </a:prstGeom>
          <a:noFill/>
        </p:spPr>
        <p:txBody>
          <a:bodyPr wrap="square" lIns="0" rIns="0" tIns="0" bIns="0" anchor="t">
            <a:spAutoFit/>
          </a:bodyPr>
          <a:lstStyle/>
          <a:p>
            <a:pPr algn="l">
              <a:lnSpc>
                <a:spcPct val="110000"/>
              </a:lnSpc>
              <a:spcAft>
                <a:spcPts val="0"/>
              </a:spcAft>
            </a:pPr>
            <a:r>
              <a:rPr sz="3200" b="1" i="0">
                <a:solidFill>
                  <a:srgbClr val="1B2230"/>
                </a:solidFill>
                <a:latin typeface="Georgia"/>
              </a:rPr>
              <a:t>Referencias</a:t>
            </a:r>
          </a:p>
        </p:txBody>
      </p:sp>
      <p:sp>
        <p:nvSpPr>
          <p:cNvPr id="4" name="TextBox 3"/>
          <p:cNvSpPr txBox="1"/>
          <p:nvPr/>
        </p:nvSpPr>
        <p:spPr>
          <a:xfrm>
            <a:off x="812800" y="1841500"/>
            <a:ext cx="10566400" cy="4318000"/>
          </a:xfrm>
          <a:prstGeom prst="rect">
            <a:avLst/>
          </a:prstGeom>
          <a:noFill/>
        </p:spPr>
        <p:txBody>
          <a:bodyPr wrap="square" lIns="0" rIns="0" tIns="0" bIns="0" anchor="t">
            <a:spAutoFit/>
          </a:bodyPr>
          <a:lstStyle/>
          <a:p>
            <a:pPr algn="l">
              <a:lnSpc>
                <a:spcPct val="120000"/>
              </a:lnSpc>
              <a:spcAft>
                <a:spcPts val="900"/>
              </a:spcAft>
            </a:pPr>
            <a:r>
              <a:rPr sz="1200" b="0" i="0">
                <a:solidFill>
                  <a:srgbClr val="1B2230"/>
                </a:solidFill>
                <a:latin typeface="Arial"/>
              </a:rPr>
              <a:t>Kalousis, A., Prados, J., &amp; Hilario, M. (2007). Stability of feature selection algorithms: A study on high-dimensional spaces. </a:t>
            </a:r>
            <a:r>
              <a:rPr sz="1200" b="0" i="1">
                <a:solidFill>
                  <a:srgbClr val="1B2230"/>
                </a:solidFill>
                <a:latin typeface="Arial"/>
              </a:rPr>
              <a:t>Knowledge and Information Systems, 12</a:t>
            </a:r>
            <a:r>
              <a:rPr sz="1200" b="0" i="0">
                <a:solidFill>
                  <a:srgbClr val="1B2230"/>
                </a:solidFill>
                <a:latin typeface="Arial"/>
              </a:rPr>
              <a:t>(1), 95–116.</a:t>
            </a:r>
          </a:p>
          <a:p>
            <a:pPr algn="l">
              <a:lnSpc>
                <a:spcPct val="120000"/>
              </a:lnSpc>
              <a:spcAft>
                <a:spcPts val="900"/>
              </a:spcAft>
            </a:pPr>
            <a:r>
              <a:rPr sz="1200" b="0" i="0">
                <a:solidFill>
                  <a:srgbClr val="1B2230"/>
                </a:solidFill>
                <a:latin typeface="Arial"/>
              </a:rPr>
              <a:t>Liu, F. T., Ting, K. M., &amp; Zhou, Z.-H. (2008). Isolation forest. En </a:t>
            </a:r>
            <a:r>
              <a:rPr sz="1200" b="0" i="1">
                <a:solidFill>
                  <a:srgbClr val="1B2230"/>
                </a:solidFill>
                <a:latin typeface="Arial"/>
              </a:rPr>
              <a:t>Proceedings of the IEEE International Conference on Data Mining (ICDM)</a:t>
            </a:r>
            <a:r>
              <a:rPr sz="1200" b="0" i="0">
                <a:solidFill>
                  <a:srgbClr val="1B2230"/>
                </a:solidFill>
                <a:latin typeface="Arial"/>
              </a:rPr>
              <a:t> (pp. 413–422).</a:t>
            </a:r>
          </a:p>
          <a:p>
            <a:pPr algn="l">
              <a:lnSpc>
                <a:spcPct val="120000"/>
              </a:lnSpc>
              <a:spcAft>
                <a:spcPts val="900"/>
              </a:spcAft>
            </a:pPr>
            <a:r>
              <a:rPr sz="1200" b="0" i="0">
                <a:solidFill>
                  <a:srgbClr val="1B2230"/>
                </a:solidFill>
                <a:latin typeface="Arial"/>
              </a:rPr>
              <a:t>Lundberg, S. M., &amp; Lee, S.-I. (2017). A unified approach to interpreting model predictions. En </a:t>
            </a:r>
            <a:r>
              <a:rPr sz="1200" b="0" i="1">
                <a:solidFill>
                  <a:srgbClr val="1B2230"/>
                </a:solidFill>
                <a:latin typeface="Arial"/>
              </a:rPr>
              <a:t>Advances in Neural Information Processing Systems 30</a:t>
            </a:r>
            <a:r>
              <a:rPr sz="1200" b="0" i="0">
                <a:solidFill>
                  <a:srgbClr val="1B2230"/>
                </a:solidFill>
                <a:latin typeface="Arial"/>
              </a:rPr>
              <a:t> (pp. 4765–4774).</a:t>
            </a:r>
          </a:p>
          <a:p>
            <a:pPr algn="l">
              <a:lnSpc>
                <a:spcPct val="120000"/>
              </a:lnSpc>
              <a:spcAft>
                <a:spcPts val="900"/>
              </a:spcAft>
            </a:pPr>
            <a:r>
              <a:rPr sz="1200" b="0" i="0">
                <a:solidFill>
                  <a:srgbClr val="1B2230"/>
                </a:solidFill>
                <a:latin typeface="Arial"/>
              </a:rPr>
              <a:t>Lundberg, S. M., Erion, G., Chen, H., DeGrave, A., Prutkin, J. M., Nair, B., Katz, R., Himmelfarb, J., Bansal, N., &amp; Lee, S.-I. (2020). From local explanations to global understanding with explainable AI for trees. </a:t>
            </a:r>
            <a:r>
              <a:rPr sz="1200" b="0" i="1">
                <a:solidFill>
                  <a:srgbClr val="1B2230"/>
                </a:solidFill>
                <a:latin typeface="Arial"/>
              </a:rPr>
              <a:t>Nature Machine Intelligence, 2</a:t>
            </a:r>
            <a:r>
              <a:rPr sz="1200" b="0" i="0">
                <a:solidFill>
                  <a:srgbClr val="1B2230"/>
                </a:solidFill>
                <a:latin typeface="Arial"/>
              </a:rPr>
              <a:t>(1), 56–67.</a:t>
            </a:r>
          </a:p>
          <a:p>
            <a:pPr algn="l">
              <a:lnSpc>
                <a:spcPct val="120000"/>
              </a:lnSpc>
              <a:spcAft>
                <a:spcPts val="900"/>
              </a:spcAft>
            </a:pPr>
            <a:r>
              <a:rPr sz="1200" b="0" i="0">
                <a:solidFill>
                  <a:srgbClr val="1B2230"/>
                </a:solidFill>
                <a:latin typeface="Arial"/>
              </a:rPr>
              <a:t>Wainer, H. (2007). The most dangerous equation. </a:t>
            </a:r>
            <a:r>
              <a:rPr sz="1200" b="0" i="1">
                <a:solidFill>
                  <a:srgbClr val="1B2230"/>
                </a:solidFill>
                <a:latin typeface="Arial"/>
              </a:rPr>
              <a:t>American Scientist, 95</a:t>
            </a:r>
            <a:r>
              <a:rPr sz="1200" b="0" i="0">
                <a:solidFill>
                  <a:srgbClr val="1B2230"/>
                </a:solidFill>
                <a:latin typeface="Arial"/>
              </a:rPr>
              <a:t>(3), 249–256.</a:t>
            </a:r>
          </a:p>
          <a:p>
            <a:pPr algn="l">
              <a:lnSpc>
                <a:spcPct val="120000"/>
              </a:lnSpc>
              <a:spcAft>
                <a:spcPts val="900"/>
              </a:spcAft>
            </a:pPr>
            <a:r>
              <a:rPr sz="1200" b="0" i="0">
                <a:solidFill>
                  <a:srgbClr val="1B2230"/>
                </a:solidFill>
                <a:latin typeface="Arial"/>
              </a:rPr>
              <a:t>Whitrow, C., Hand, D. J., Juszczak, P., Weston, D., &amp; Adams, N. M. (2009). Transaction aggregation as a strategy for credit card fraud detection. </a:t>
            </a:r>
            <a:r>
              <a:rPr sz="1200" b="0" i="1">
                <a:solidFill>
                  <a:srgbClr val="1B2230"/>
                </a:solidFill>
                <a:latin typeface="Arial"/>
              </a:rPr>
              <a:t>Data Mining and Knowledge Discovery, 18</a:t>
            </a:r>
            <a:r>
              <a:rPr sz="1200" b="0" i="0">
                <a:solidFill>
                  <a:srgbClr val="1B2230"/>
                </a:solidFill>
                <a:latin typeface="Arial"/>
              </a:rPr>
              <a:t>(1), 30–55.</a:t>
            </a:r>
          </a:p>
          <a:p>
            <a:pPr algn="l">
              <a:lnSpc>
                <a:spcPct val="120000"/>
              </a:lnSpc>
              <a:spcAft>
                <a:spcPts val="900"/>
              </a:spcAft>
            </a:pPr>
            <a:r>
              <a:rPr sz="1200" b="0" i="0">
                <a:solidFill>
                  <a:srgbClr val="1B2230"/>
                </a:solidFill>
                <a:latin typeface="Arial"/>
              </a:rPr>
              <a:t>Woodward, K. (2017, 14 de diciembre). Quiet online shopping days yield the biggest fraud spikes, Stripe says. </a:t>
            </a:r>
            <a:r>
              <a:rPr sz="1200" b="0" i="1">
                <a:solidFill>
                  <a:srgbClr val="1B2230"/>
                </a:solidFill>
                <a:latin typeface="Arial"/>
              </a:rPr>
              <a:t>Digital Transactions</a:t>
            </a:r>
            <a:r>
              <a:rPr sz="1200" b="0" i="0">
                <a:solidFill>
                  <a:srgbClr val="1B2230"/>
                </a:solidFill>
                <a:latin typeface="Arial"/>
              </a:rPr>
              <a:t>. https://www.digitaltransactions.net/?p=21420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8202C"/>
        </a:solidFill>
        <a:effectLst/>
      </p:bgPr>
    </p:bg>
    <p:spTree>
      <p:nvGrpSpPr>
        <p:cNvPr id="1" name=""/>
        <p:cNvGrpSpPr/>
        <p:nvPr/>
      </p:nvGrpSpPr>
      <p:grpSpPr/>
      <p:pic>
        <p:nvPicPr>
          <p:cNvPr id="2" name="Picture 1" descr="iteso_logo.png"/>
          <p:cNvPicPr>
            <a:picLocks noChangeAspect="1"/>
          </p:cNvPicPr>
          <p:nvPr/>
        </p:nvPicPr>
        <p:blipFill>
          <a:blip r:embed="rId3"/>
          <a:stretch>
            <a:fillRect/>
          </a:stretch>
        </p:blipFill>
        <p:spPr>
          <a:xfrm>
            <a:off x="812800" y="812800"/>
            <a:ext cx="762000" cy="685800"/>
          </a:xfrm>
          <a:prstGeom prst="rect">
            <a:avLst/>
          </a:prstGeom>
        </p:spPr>
      </p:pic>
      <p:sp>
        <p:nvSpPr>
          <p:cNvPr id="3" name="TextBox 2"/>
          <p:cNvSpPr txBox="1"/>
          <p:nvPr/>
        </p:nvSpPr>
        <p:spPr>
          <a:xfrm>
            <a:off x="1778000" y="1016000"/>
            <a:ext cx="8890000" cy="317500"/>
          </a:xfrm>
          <a:prstGeom prst="rect">
            <a:avLst/>
          </a:prstGeom>
          <a:noFill/>
        </p:spPr>
        <p:txBody>
          <a:bodyPr wrap="square" lIns="0" rIns="0" tIns="0" bIns="0" anchor="t">
            <a:spAutoFit/>
          </a:bodyPr>
          <a:lstStyle/>
          <a:p>
            <a:pPr algn="l">
              <a:lnSpc>
                <a:spcPct val="125000"/>
              </a:lnSpc>
              <a:spcAft>
                <a:spcPts val="0"/>
              </a:spcAft>
            </a:pPr>
            <a:r>
              <a:rPr sz="1400" b="0" i="0">
                <a:solidFill>
                  <a:srgbClr val="C9CED6"/>
                </a:solidFill>
                <a:latin typeface="Arial"/>
              </a:rPr>
              <a:t>ITESO, Universidad Jesuita de Guadalajara</a:t>
            </a:r>
          </a:p>
        </p:txBody>
      </p:sp>
      <p:sp>
        <p:nvSpPr>
          <p:cNvPr id="4" name="TextBox 3"/>
          <p:cNvSpPr txBox="1"/>
          <p:nvPr/>
        </p:nvSpPr>
        <p:spPr>
          <a:xfrm>
            <a:off x="812800" y="2667000"/>
            <a:ext cx="10566400" cy="889000"/>
          </a:xfrm>
          <a:prstGeom prst="rect">
            <a:avLst/>
          </a:prstGeom>
          <a:noFill/>
        </p:spPr>
        <p:txBody>
          <a:bodyPr wrap="square" lIns="0" rIns="0" tIns="0" bIns="0" anchor="t">
            <a:spAutoFit/>
          </a:bodyPr>
          <a:lstStyle/>
          <a:p>
            <a:pPr algn="l">
              <a:lnSpc>
                <a:spcPct val="125000"/>
              </a:lnSpc>
              <a:spcAft>
                <a:spcPts val="0"/>
              </a:spcAft>
            </a:pPr>
            <a:r>
              <a:rPr sz="6000" b="1" i="0">
                <a:solidFill>
                  <a:srgbClr val="F5F3EE"/>
                </a:solidFill>
                <a:latin typeface="Georgia"/>
              </a:rPr>
              <a:t>Gracias</a:t>
            </a:r>
          </a:p>
        </p:txBody>
      </p:sp>
      <p:sp>
        <p:nvSpPr>
          <p:cNvPr id="5" name="TextBox 4"/>
          <p:cNvSpPr txBox="1"/>
          <p:nvPr/>
        </p:nvSpPr>
        <p:spPr>
          <a:xfrm>
            <a:off x="812800" y="3683000"/>
            <a:ext cx="10566400" cy="444500"/>
          </a:xfrm>
          <a:prstGeom prst="rect">
            <a:avLst/>
          </a:prstGeom>
          <a:noFill/>
        </p:spPr>
        <p:txBody>
          <a:bodyPr wrap="square" lIns="0" rIns="0" tIns="0" bIns="0" anchor="t">
            <a:spAutoFit/>
          </a:bodyPr>
          <a:lstStyle/>
          <a:p>
            <a:pPr algn="l">
              <a:lnSpc>
                <a:spcPct val="125000"/>
              </a:lnSpc>
              <a:spcAft>
                <a:spcPts val="0"/>
              </a:spcAft>
            </a:pPr>
            <a:r>
              <a:rPr sz="2200" b="0" i="0">
                <a:solidFill>
                  <a:srgbClr val="E59A6E"/>
                </a:solidFill>
                <a:latin typeface="Arial"/>
              </a:rPr>
              <a:t>¿Preguntas?</a:t>
            </a:r>
          </a:p>
        </p:txBody>
      </p:sp>
      <p:sp>
        <p:nvSpPr>
          <p:cNvPr id="6" name="TextBox 5"/>
          <p:cNvSpPr txBox="1"/>
          <p:nvPr/>
        </p:nvSpPr>
        <p:spPr>
          <a:xfrm>
            <a:off x="812800" y="5334000"/>
            <a:ext cx="8890000" cy="698500"/>
          </a:xfrm>
          <a:prstGeom prst="rect">
            <a:avLst/>
          </a:prstGeom>
          <a:noFill/>
        </p:spPr>
        <p:txBody>
          <a:bodyPr wrap="square" lIns="0" rIns="0" tIns="0" bIns="0" anchor="t">
            <a:spAutoFit/>
          </a:bodyPr>
          <a:lstStyle/>
          <a:p>
            <a:pPr algn="l">
              <a:lnSpc>
                <a:spcPct val="135000"/>
              </a:lnSpc>
              <a:spcAft>
                <a:spcPts val="0"/>
              </a:spcAft>
            </a:pPr>
            <a:r>
              <a:rPr sz="1600" b="0" i="0">
                <a:solidFill>
                  <a:srgbClr val="F5F3EE"/>
                </a:solidFill>
                <a:latin typeface="Arial"/>
              </a:rPr>
              <a:t>José Armando Melchor Soto · Rolando Fortanell Canedo</a:t>
            </a:r>
          </a:p>
          <a:p>
            <a:pPr algn="l">
              <a:lnSpc>
                <a:spcPct val="135000"/>
              </a:lnSpc>
              <a:spcAft>
                <a:spcPts val="0"/>
              </a:spcAft>
            </a:pPr>
            <a:r>
              <a:rPr sz="1600" b="0" i="0">
                <a:solidFill>
                  <a:srgbClr val="F5F3EE"/>
                </a:solidFill>
                <a:latin typeface="Arial"/>
              </a:rPr>
              <a:t>Emiliano Contreras Huerta · Ismael Téllez Antillón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